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lacial Indifference Bold" charset="1" panose="00000800000000000000"/>
      <p:regular r:id="rId17"/>
    </p:embeddedFont>
    <p:embeddedFont>
      <p:font typeface="Futura" charset="1" panose="020B0502020204020303"/>
      <p:regular r:id="rId18"/>
    </p:embeddedFont>
    <p:embeddedFont>
      <p:font typeface="Futura Italics" charset="1" panose="020B0502020204090303"/>
      <p:regular r:id="rId19"/>
    </p:embeddedFont>
    <p:embeddedFont>
      <p:font typeface="Futura Bold" charset="1" panose="020B0702020204020203"/>
      <p:regular r:id="rId20"/>
    </p:embeddedFont>
    <p:embeddedFont>
      <p:font typeface="Times New Roman MT Bold" charset="1" panose="02030802070405020303"/>
      <p:regular r:id="rId21"/>
    </p:embeddedFont>
    <p:embeddedFont>
      <p:font typeface="Times New Roman MT" charset="1" panose="02030502070405020303"/>
      <p:regular r:id="rId22"/>
    </p:embeddedFont>
    <p:embeddedFont>
      <p:font typeface="Glacial Indifference"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92370" y="792370"/>
            <a:ext cx="472661" cy="4726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a:off x="17364075" y="6915141"/>
            <a:ext cx="0" cy="2610617"/>
          </a:xfrm>
          <a:prstGeom prst="line">
            <a:avLst/>
          </a:prstGeom>
          <a:ln cap="flat" w="123825">
            <a:solidFill>
              <a:srgbClr val="BBC8B1"/>
            </a:solidFill>
            <a:prstDash val="sysDot"/>
            <a:headEnd type="none" len="sm" w="sm"/>
            <a:tailEnd type="none" len="sm" w="sm"/>
          </a:ln>
        </p:spPr>
      </p:sp>
      <p:grpSp>
        <p:nvGrpSpPr>
          <p:cNvPr name="Group 6" id="6"/>
          <p:cNvGrpSpPr/>
          <p:nvPr/>
        </p:nvGrpSpPr>
        <p:grpSpPr>
          <a:xfrm rot="0">
            <a:off x="13756206" y="-514350"/>
            <a:ext cx="6163724" cy="3086100"/>
            <a:chOff x="0" y="0"/>
            <a:chExt cx="1623368" cy="812800"/>
          </a:xfrm>
        </p:grpSpPr>
        <p:sp>
          <p:nvSpPr>
            <p:cNvPr name="Freeform 7" id="7"/>
            <p:cNvSpPr/>
            <p:nvPr/>
          </p:nvSpPr>
          <p:spPr>
            <a:xfrm flipH="false" flipV="false" rot="0">
              <a:off x="0" y="0"/>
              <a:ext cx="1623368" cy="812800"/>
            </a:xfrm>
            <a:custGeom>
              <a:avLst/>
              <a:gdLst/>
              <a:ahLst/>
              <a:cxnLst/>
              <a:rect r="r" b="b" t="t" l="l"/>
              <a:pathLst>
                <a:path h="812800" w="1623368">
                  <a:moveTo>
                    <a:pt x="0" y="0"/>
                  </a:moveTo>
                  <a:lnTo>
                    <a:pt x="1623368" y="0"/>
                  </a:lnTo>
                  <a:lnTo>
                    <a:pt x="1623368" y="812800"/>
                  </a:lnTo>
                  <a:lnTo>
                    <a:pt x="0" y="812800"/>
                  </a:lnTo>
                  <a:close/>
                </a:path>
              </a:pathLst>
            </a:custGeom>
            <a:solidFill>
              <a:srgbClr val="EAEBE9"/>
            </a:solidFill>
          </p:spPr>
        </p:sp>
        <p:sp>
          <p:nvSpPr>
            <p:cNvPr name="TextBox 8" id="8"/>
            <p:cNvSpPr txBox="true"/>
            <p:nvPr/>
          </p:nvSpPr>
          <p:spPr>
            <a:xfrm>
              <a:off x="0" y="-47625"/>
              <a:ext cx="1623368" cy="860425"/>
            </a:xfrm>
            <a:prstGeom prst="rect">
              <a:avLst/>
            </a:prstGeom>
          </p:spPr>
          <p:txBody>
            <a:bodyPr anchor="ctr" rtlCol="false" tIns="50800" lIns="50800" bIns="50800" rIns="50800"/>
            <a:lstStyle/>
            <a:p>
              <a:pPr algn="ctr">
                <a:lnSpc>
                  <a:spcPts val="3012"/>
                </a:lnSpc>
              </a:pPr>
            </a:p>
          </p:txBody>
        </p:sp>
      </p:grpSp>
      <p:grpSp>
        <p:nvGrpSpPr>
          <p:cNvPr name="Group 9" id="9"/>
          <p:cNvGrpSpPr/>
          <p:nvPr/>
        </p:nvGrpSpPr>
        <p:grpSpPr>
          <a:xfrm rot="0">
            <a:off x="-2582136" y="8362283"/>
            <a:ext cx="7059741" cy="3086100"/>
            <a:chOff x="0" y="0"/>
            <a:chExt cx="1859356" cy="812800"/>
          </a:xfrm>
        </p:grpSpPr>
        <p:sp>
          <p:nvSpPr>
            <p:cNvPr name="Freeform 10" id="10"/>
            <p:cNvSpPr/>
            <p:nvPr/>
          </p:nvSpPr>
          <p:spPr>
            <a:xfrm flipH="false" flipV="false" rot="0">
              <a:off x="0" y="0"/>
              <a:ext cx="1859356" cy="812800"/>
            </a:xfrm>
            <a:custGeom>
              <a:avLst/>
              <a:gdLst/>
              <a:ahLst/>
              <a:cxnLst/>
              <a:rect r="r" b="b" t="t" l="l"/>
              <a:pathLst>
                <a:path h="812800" w="1859356">
                  <a:moveTo>
                    <a:pt x="0" y="0"/>
                  </a:moveTo>
                  <a:lnTo>
                    <a:pt x="1859356" y="0"/>
                  </a:lnTo>
                  <a:lnTo>
                    <a:pt x="1859356" y="812800"/>
                  </a:lnTo>
                  <a:lnTo>
                    <a:pt x="0" y="812800"/>
                  </a:lnTo>
                  <a:close/>
                </a:path>
              </a:pathLst>
            </a:custGeom>
            <a:solidFill>
              <a:srgbClr val="EAEBE9"/>
            </a:solidFill>
          </p:spPr>
        </p:sp>
        <p:sp>
          <p:nvSpPr>
            <p:cNvPr name="TextBox 11" id="11"/>
            <p:cNvSpPr txBox="true"/>
            <p:nvPr/>
          </p:nvSpPr>
          <p:spPr>
            <a:xfrm>
              <a:off x="0" y="-47625"/>
              <a:ext cx="1859356" cy="860425"/>
            </a:xfrm>
            <a:prstGeom prst="rect">
              <a:avLst/>
            </a:prstGeom>
          </p:spPr>
          <p:txBody>
            <a:bodyPr anchor="ctr" rtlCol="false" tIns="50800" lIns="50800" bIns="50800" rIns="50800"/>
            <a:lstStyle/>
            <a:p>
              <a:pPr algn="ctr">
                <a:lnSpc>
                  <a:spcPts val="3012"/>
                </a:lnSpc>
              </a:pPr>
            </a:p>
          </p:txBody>
        </p:sp>
      </p:grpSp>
      <p:sp>
        <p:nvSpPr>
          <p:cNvPr name="TextBox 12" id="12"/>
          <p:cNvSpPr txBox="true"/>
          <p:nvPr/>
        </p:nvSpPr>
        <p:spPr>
          <a:xfrm rot="0">
            <a:off x="1771519" y="3012727"/>
            <a:ext cx="14744962" cy="1537397"/>
          </a:xfrm>
          <a:prstGeom prst="rect">
            <a:avLst/>
          </a:prstGeom>
        </p:spPr>
        <p:txBody>
          <a:bodyPr anchor="t" rtlCol="false" tIns="0" lIns="0" bIns="0" rIns="0">
            <a:spAutoFit/>
          </a:bodyPr>
          <a:lstStyle/>
          <a:p>
            <a:pPr algn="ctr" marL="0" indent="0" lvl="0">
              <a:lnSpc>
                <a:spcPts val="11979"/>
              </a:lnSpc>
            </a:pPr>
            <a:r>
              <a:rPr lang="en-US" b="true" sz="10508">
                <a:solidFill>
                  <a:srgbClr val="5F6F52"/>
                </a:solidFill>
                <a:latin typeface="Glacial Indifference Bold"/>
                <a:ea typeface="Glacial Indifference Bold"/>
                <a:cs typeface="Glacial Indifference Bold"/>
                <a:sym typeface="Glacial Indifference Bold"/>
              </a:rPr>
              <a:t>EVENTURE</a:t>
            </a:r>
          </a:p>
        </p:txBody>
      </p:sp>
      <p:sp>
        <p:nvSpPr>
          <p:cNvPr name="TextBox 13" id="13"/>
          <p:cNvSpPr txBox="true"/>
          <p:nvPr/>
        </p:nvSpPr>
        <p:spPr>
          <a:xfrm rot="0">
            <a:off x="1771519" y="6260447"/>
            <a:ext cx="14744962" cy="654694"/>
          </a:xfrm>
          <a:prstGeom prst="rect">
            <a:avLst/>
          </a:prstGeom>
        </p:spPr>
        <p:txBody>
          <a:bodyPr anchor="t" rtlCol="false" tIns="0" lIns="0" bIns="0" rIns="0">
            <a:spAutoFit/>
          </a:bodyPr>
          <a:lstStyle/>
          <a:p>
            <a:pPr algn="ctr" marL="0" indent="0" lvl="0">
              <a:lnSpc>
                <a:spcPts val="4864"/>
              </a:lnSpc>
            </a:pPr>
            <a:r>
              <a:rPr lang="en-US" sz="3474">
                <a:solidFill>
                  <a:srgbClr val="000000"/>
                </a:solidFill>
                <a:latin typeface="Futura"/>
                <a:ea typeface="Futura"/>
                <a:cs typeface="Futura"/>
                <a:sym typeface="Futura"/>
              </a:rPr>
              <a:t>EVENT MANAGEMENT SYSTEM </a:t>
            </a:r>
          </a:p>
        </p:txBody>
      </p:sp>
      <p:sp>
        <p:nvSpPr>
          <p:cNvPr name="TextBox 14" id="14"/>
          <p:cNvSpPr txBox="true"/>
          <p:nvPr/>
        </p:nvSpPr>
        <p:spPr>
          <a:xfrm rot="0">
            <a:off x="1771519" y="668545"/>
            <a:ext cx="4572107" cy="596486"/>
          </a:xfrm>
          <a:prstGeom prst="rect">
            <a:avLst/>
          </a:prstGeom>
        </p:spPr>
        <p:txBody>
          <a:bodyPr anchor="t" rtlCol="false" tIns="0" lIns="0" bIns="0" rIns="0">
            <a:spAutoFit/>
          </a:bodyPr>
          <a:lstStyle/>
          <a:p>
            <a:pPr algn="l" marL="0" indent="0" lvl="0">
              <a:lnSpc>
                <a:spcPts val="4397"/>
              </a:lnSpc>
              <a:spcBef>
                <a:spcPct val="0"/>
              </a:spcBef>
            </a:pPr>
            <a:r>
              <a:rPr lang="en-US" sz="3141" i="true">
                <a:solidFill>
                  <a:srgbClr val="465739"/>
                </a:solidFill>
                <a:latin typeface="Futura Italics"/>
                <a:ea typeface="Futura Italics"/>
                <a:cs typeface="Futura Italics"/>
                <a:sym typeface="Futura Italics"/>
              </a:rPr>
              <a:t>SW 332</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59220" y="2728754"/>
            <a:ext cx="21006441" cy="6529546"/>
            <a:chOff x="0" y="0"/>
            <a:chExt cx="5532561" cy="1719716"/>
          </a:xfrm>
        </p:grpSpPr>
        <p:sp>
          <p:nvSpPr>
            <p:cNvPr name="Freeform 3" id="3"/>
            <p:cNvSpPr/>
            <p:nvPr/>
          </p:nvSpPr>
          <p:spPr>
            <a:xfrm flipH="false" flipV="false" rot="0">
              <a:off x="0" y="0"/>
              <a:ext cx="5532560" cy="1719716"/>
            </a:xfrm>
            <a:custGeom>
              <a:avLst/>
              <a:gdLst/>
              <a:ahLst/>
              <a:cxnLst/>
              <a:rect r="r" b="b" t="t" l="l"/>
              <a:pathLst>
                <a:path h="1719716" w="5532560">
                  <a:moveTo>
                    <a:pt x="0" y="0"/>
                  </a:moveTo>
                  <a:lnTo>
                    <a:pt x="5532560" y="0"/>
                  </a:lnTo>
                  <a:lnTo>
                    <a:pt x="5532560" y="1719716"/>
                  </a:lnTo>
                  <a:lnTo>
                    <a:pt x="0" y="1719716"/>
                  </a:lnTo>
                  <a:close/>
                </a:path>
              </a:pathLst>
            </a:custGeom>
            <a:solidFill>
              <a:srgbClr val="EAEBE9"/>
            </a:solidFill>
          </p:spPr>
        </p:sp>
        <p:sp>
          <p:nvSpPr>
            <p:cNvPr name="TextBox 4" id="4"/>
            <p:cNvSpPr txBox="true"/>
            <p:nvPr/>
          </p:nvSpPr>
          <p:spPr>
            <a:xfrm>
              <a:off x="0" y="-47625"/>
              <a:ext cx="5532561" cy="1767341"/>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2820222" y="489953"/>
            <a:ext cx="12647557" cy="1601553"/>
          </a:xfrm>
          <a:prstGeom prst="rect">
            <a:avLst/>
          </a:prstGeom>
        </p:spPr>
        <p:txBody>
          <a:bodyPr anchor="t" rtlCol="false" tIns="0" lIns="0" bIns="0" rIns="0">
            <a:spAutoFit/>
          </a:bodyPr>
          <a:lstStyle/>
          <a:p>
            <a:pPr algn="ctr" marL="0" indent="0" lvl="0">
              <a:lnSpc>
                <a:spcPts val="13050"/>
              </a:lnSpc>
              <a:spcBef>
                <a:spcPct val="0"/>
              </a:spcBef>
            </a:pPr>
            <a:r>
              <a:rPr lang="en-US" b="true" sz="9321">
                <a:solidFill>
                  <a:srgbClr val="465739"/>
                </a:solidFill>
                <a:latin typeface="Glacial Indifference Bold"/>
                <a:ea typeface="Glacial Indifference Bold"/>
                <a:cs typeface="Glacial Indifference Bold"/>
                <a:sym typeface="Glacial Indifference Bold"/>
              </a:rPr>
              <a:t>Agenda Overview</a:t>
            </a:r>
          </a:p>
        </p:txBody>
      </p:sp>
      <p:sp>
        <p:nvSpPr>
          <p:cNvPr name="TextBox 6" id="6"/>
          <p:cNvSpPr txBox="true"/>
          <p:nvPr/>
        </p:nvSpPr>
        <p:spPr>
          <a:xfrm rot="0">
            <a:off x="2815673" y="3070604"/>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01</a:t>
            </a:r>
          </a:p>
        </p:txBody>
      </p:sp>
      <p:sp>
        <p:nvSpPr>
          <p:cNvPr name="TextBox 7" id="7"/>
          <p:cNvSpPr txBox="true"/>
          <p:nvPr/>
        </p:nvSpPr>
        <p:spPr>
          <a:xfrm rot="0">
            <a:off x="2815673" y="6058166"/>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05</a:t>
            </a:r>
          </a:p>
        </p:txBody>
      </p:sp>
      <p:sp>
        <p:nvSpPr>
          <p:cNvPr name="TextBox 8" id="8"/>
          <p:cNvSpPr txBox="true"/>
          <p:nvPr/>
        </p:nvSpPr>
        <p:spPr>
          <a:xfrm rot="0">
            <a:off x="6334579" y="3070604"/>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02</a:t>
            </a:r>
          </a:p>
        </p:txBody>
      </p:sp>
      <p:sp>
        <p:nvSpPr>
          <p:cNvPr name="TextBox 9" id="9"/>
          <p:cNvSpPr txBox="true"/>
          <p:nvPr/>
        </p:nvSpPr>
        <p:spPr>
          <a:xfrm rot="0">
            <a:off x="6334579" y="6058166"/>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06</a:t>
            </a:r>
          </a:p>
        </p:txBody>
      </p:sp>
      <p:sp>
        <p:nvSpPr>
          <p:cNvPr name="TextBox 10" id="10"/>
          <p:cNvSpPr txBox="true"/>
          <p:nvPr/>
        </p:nvSpPr>
        <p:spPr>
          <a:xfrm rot="0">
            <a:off x="2483742" y="4850072"/>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Introduction</a:t>
            </a:r>
          </a:p>
        </p:txBody>
      </p:sp>
      <p:sp>
        <p:nvSpPr>
          <p:cNvPr name="TextBox 11" id="11"/>
          <p:cNvSpPr txBox="true"/>
          <p:nvPr/>
        </p:nvSpPr>
        <p:spPr>
          <a:xfrm rot="0">
            <a:off x="12926149" y="4803451"/>
            <a:ext cx="358214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Scrum Team</a:t>
            </a:r>
          </a:p>
        </p:txBody>
      </p:sp>
      <p:sp>
        <p:nvSpPr>
          <p:cNvPr name="TextBox 12" id="12"/>
          <p:cNvSpPr txBox="true"/>
          <p:nvPr/>
        </p:nvSpPr>
        <p:spPr>
          <a:xfrm rot="0">
            <a:off x="6002648" y="4850072"/>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Product vision</a:t>
            </a:r>
          </a:p>
        </p:txBody>
      </p:sp>
      <p:sp>
        <p:nvSpPr>
          <p:cNvPr name="TextBox 13" id="13"/>
          <p:cNvSpPr txBox="true"/>
          <p:nvPr/>
        </p:nvSpPr>
        <p:spPr>
          <a:xfrm rot="0">
            <a:off x="2815673" y="7837634"/>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Product Backlog</a:t>
            </a:r>
          </a:p>
        </p:txBody>
      </p:sp>
      <p:sp>
        <p:nvSpPr>
          <p:cNvPr name="TextBox 14" id="14"/>
          <p:cNvSpPr txBox="true"/>
          <p:nvPr/>
        </p:nvSpPr>
        <p:spPr>
          <a:xfrm rot="0">
            <a:off x="9853486" y="3070604"/>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03</a:t>
            </a:r>
          </a:p>
        </p:txBody>
      </p:sp>
      <p:sp>
        <p:nvSpPr>
          <p:cNvPr name="TextBox 15" id="15"/>
          <p:cNvSpPr txBox="true"/>
          <p:nvPr/>
        </p:nvSpPr>
        <p:spPr>
          <a:xfrm rot="0">
            <a:off x="10185417" y="6058166"/>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07</a:t>
            </a:r>
          </a:p>
        </p:txBody>
      </p:sp>
      <p:sp>
        <p:nvSpPr>
          <p:cNvPr name="TextBox 16" id="16"/>
          <p:cNvSpPr txBox="true"/>
          <p:nvPr/>
        </p:nvSpPr>
        <p:spPr>
          <a:xfrm rot="0">
            <a:off x="9850851" y="7978684"/>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Scrum metting</a:t>
            </a:r>
          </a:p>
        </p:txBody>
      </p:sp>
      <p:sp>
        <p:nvSpPr>
          <p:cNvPr name="TextBox 17" id="17"/>
          <p:cNvSpPr txBox="true"/>
          <p:nvPr/>
        </p:nvSpPr>
        <p:spPr>
          <a:xfrm rot="0">
            <a:off x="6334579" y="7837634"/>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Sprint Baclog </a:t>
            </a:r>
          </a:p>
        </p:txBody>
      </p:sp>
      <p:sp>
        <p:nvSpPr>
          <p:cNvPr name="TextBox 18" id="18"/>
          <p:cNvSpPr txBox="true"/>
          <p:nvPr/>
        </p:nvSpPr>
        <p:spPr>
          <a:xfrm rot="0">
            <a:off x="13372392" y="3070604"/>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04</a:t>
            </a:r>
          </a:p>
        </p:txBody>
      </p:sp>
      <p:sp>
        <p:nvSpPr>
          <p:cNvPr name="TextBox 19" id="19"/>
          <p:cNvSpPr txBox="true"/>
          <p:nvPr/>
        </p:nvSpPr>
        <p:spPr>
          <a:xfrm rot="0">
            <a:off x="9853486" y="4850072"/>
            <a:ext cx="2763797" cy="530176"/>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Stackholders</a:t>
            </a:r>
          </a:p>
        </p:txBody>
      </p:sp>
      <p:sp>
        <p:nvSpPr>
          <p:cNvPr name="TextBox 20" id="20"/>
          <p:cNvSpPr txBox="true"/>
          <p:nvPr/>
        </p:nvSpPr>
        <p:spPr>
          <a:xfrm rot="0">
            <a:off x="14037952" y="6058166"/>
            <a:ext cx="2099935" cy="1583992"/>
          </a:xfrm>
          <a:prstGeom prst="rect">
            <a:avLst/>
          </a:prstGeom>
        </p:spPr>
        <p:txBody>
          <a:bodyPr anchor="t" rtlCol="false" tIns="0" lIns="0" bIns="0" rIns="0">
            <a:spAutoFit/>
          </a:bodyPr>
          <a:lstStyle/>
          <a:p>
            <a:pPr algn="ctr">
              <a:lnSpc>
                <a:spcPts val="12968"/>
              </a:lnSpc>
              <a:spcBef>
                <a:spcPct val="0"/>
              </a:spcBef>
            </a:pPr>
            <a:r>
              <a:rPr lang="en-US" b="true" sz="9263">
                <a:solidFill>
                  <a:srgbClr val="5F6F52"/>
                </a:solidFill>
                <a:latin typeface="Glacial Indifference Bold"/>
                <a:ea typeface="Glacial Indifference Bold"/>
                <a:cs typeface="Glacial Indifference Bold"/>
                <a:sym typeface="Glacial Indifference Bold"/>
              </a:rPr>
              <a:t>08</a:t>
            </a:r>
          </a:p>
        </p:txBody>
      </p:sp>
      <p:sp>
        <p:nvSpPr>
          <p:cNvPr name="TextBox 21" id="21"/>
          <p:cNvSpPr txBox="true"/>
          <p:nvPr/>
        </p:nvSpPr>
        <p:spPr>
          <a:xfrm rot="0">
            <a:off x="13744499" y="7527858"/>
            <a:ext cx="2763797" cy="1015951"/>
          </a:xfrm>
          <a:prstGeom prst="rect">
            <a:avLst/>
          </a:prstGeom>
        </p:spPr>
        <p:txBody>
          <a:bodyPr anchor="t" rtlCol="false" tIns="0" lIns="0" bIns="0" rIns="0">
            <a:spAutoFit/>
          </a:bodyPr>
          <a:lstStyle/>
          <a:p>
            <a:pPr algn="ctr">
              <a:lnSpc>
                <a:spcPts val="3852"/>
              </a:lnSpc>
              <a:spcBef>
                <a:spcPct val="0"/>
              </a:spcBef>
            </a:pPr>
            <a:r>
              <a:rPr lang="en-US" b="true" sz="2751">
                <a:solidFill>
                  <a:srgbClr val="465739"/>
                </a:solidFill>
                <a:latin typeface="Futura Bold"/>
                <a:ea typeface="Futura Bold"/>
                <a:cs typeface="Futura Bold"/>
                <a:sym typeface="Futura Bold"/>
              </a:rPr>
              <a:t>Summary of the product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79361" y="-2684741"/>
            <a:ext cx="17987306" cy="15656483"/>
            <a:chOff x="0" y="0"/>
            <a:chExt cx="933804" cy="812800"/>
          </a:xfrm>
        </p:grpSpPr>
        <p:sp>
          <p:nvSpPr>
            <p:cNvPr name="Freeform 3" id="3"/>
            <p:cNvSpPr/>
            <p:nvPr/>
          </p:nvSpPr>
          <p:spPr>
            <a:xfrm flipH="false" flipV="false" rot="0">
              <a:off x="0" y="0"/>
              <a:ext cx="933804" cy="812800"/>
            </a:xfrm>
            <a:custGeom>
              <a:avLst/>
              <a:gdLst/>
              <a:ahLst/>
              <a:cxnLst/>
              <a:rect r="r" b="b" t="t" l="l"/>
              <a:pathLst>
                <a:path h="812800" w="933804">
                  <a:moveTo>
                    <a:pt x="466902" y="0"/>
                  </a:moveTo>
                  <a:cubicBezTo>
                    <a:pt x="209039" y="0"/>
                    <a:pt x="0" y="181951"/>
                    <a:pt x="0" y="406400"/>
                  </a:cubicBezTo>
                  <a:cubicBezTo>
                    <a:pt x="0" y="630849"/>
                    <a:pt x="209039" y="812800"/>
                    <a:pt x="466902" y="812800"/>
                  </a:cubicBezTo>
                  <a:cubicBezTo>
                    <a:pt x="724765" y="812800"/>
                    <a:pt x="933804" y="630849"/>
                    <a:pt x="933804" y="406400"/>
                  </a:cubicBezTo>
                  <a:cubicBezTo>
                    <a:pt x="933804" y="181951"/>
                    <a:pt x="724765" y="0"/>
                    <a:pt x="466902" y="0"/>
                  </a:cubicBezTo>
                  <a:close/>
                </a:path>
              </a:pathLst>
            </a:custGeom>
            <a:solidFill>
              <a:srgbClr val="EAEBE9"/>
            </a:solidFill>
          </p:spPr>
        </p:sp>
        <p:sp>
          <p:nvSpPr>
            <p:cNvPr name="TextBox 4" id="4"/>
            <p:cNvSpPr txBox="true"/>
            <p:nvPr/>
          </p:nvSpPr>
          <p:spPr>
            <a:xfrm>
              <a:off x="87544" y="28575"/>
              <a:ext cx="758716" cy="708025"/>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a:off x="13282955" y="8322576"/>
            <a:ext cx="0" cy="2610617"/>
          </a:xfrm>
          <a:prstGeom prst="line">
            <a:avLst/>
          </a:prstGeom>
          <a:ln cap="flat" w="123825">
            <a:solidFill>
              <a:srgbClr val="BBC8B1"/>
            </a:solidFill>
            <a:prstDash val="sysDot"/>
            <a:headEnd type="none" len="sm" w="sm"/>
            <a:tailEnd type="none" len="sm" w="sm"/>
          </a:ln>
        </p:spPr>
      </p:sp>
      <p:sp>
        <p:nvSpPr>
          <p:cNvPr name="TextBox 6" id="6"/>
          <p:cNvSpPr txBox="true"/>
          <p:nvPr/>
        </p:nvSpPr>
        <p:spPr>
          <a:xfrm rot="0">
            <a:off x="742162" y="3169880"/>
            <a:ext cx="11113090" cy="2185647"/>
          </a:xfrm>
          <a:prstGeom prst="rect">
            <a:avLst/>
          </a:prstGeom>
        </p:spPr>
        <p:txBody>
          <a:bodyPr anchor="t" rtlCol="false" tIns="0" lIns="0" bIns="0" rIns="0">
            <a:spAutoFit/>
          </a:bodyPr>
          <a:lstStyle/>
          <a:p>
            <a:pPr algn="l">
              <a:lnSpc>
                <a:spcPts val="3453"/>
              </a:lnSpc>
            </a:pPr>
            <a:r>
              <a:rPr lang="en-US" sz="2466">
                <a:solidFill>
                  <a:srgbClr val="000000"/>
                </a:solidFill>
                <a:latin typeface="Futura"/>
                <a:ea typeface="Futura"/>
                <a:cs typeface="Futura"/>
                <a:sym typeface="Futura"/>
              </a:rPr>
              <a:t>Th</a:t>
            </a:r>
            <a:r>
              <a:rPr lang="en-US" sz="2466">
                <a:solidFill>
                  <a:srgbClr val="000000"/>
                </a:solidFill>
                <a:latin typeface="Futura"/>
                <a:ea typeface="Futura"/>
                <a:cs typeface="Futura"/>
                <a:sym typeface="Futura"/>
              </a:rPr>
              <a:t>e Event Management System is a smart digital platform that simplifies planning and managing events like conferences, workshops, and social gatherings. It allows organizers to create events, manage registrations and tickets, send notifications, and track attendance easily. With a secure, user-friendly interface, it enhances communication and provides an efficient, time-saving experience.</a:t>
            </a:r>
          </a:p>
        </p:txBody>
      </p:sp>
      <p:sp>
        <p:nvSpPr>
          <p:cNvPr name="Freeform 7" id="7"/>
          <p:cNvSpPr/>
          <p:nvPr/>
        </p:nvSpPr>
        <p:spPr>
          <a:xfrm flipH="false" flipV="false" rot="0">
            <a:off x="496285" y="7653113"/>
            <a:ext cx="11604845" cy="1338927"/>
          </a:xfrm>
          <a:custGeom>
            <a:avLst/>
            <a:gdLst/>
            <a:ahLst/>
            <a:cxnLst/>
            <a:rect r="r" b="b" t="t" l="l"/>
            <a:pathLst>
              <a:path h="1338927" w="11604845">
                <a:moveTo>
                  <a:pt x="0" y="0"/>
                </a:moveTo>
                <a:lnTo>
                  <a:pt x="11604845" y="0"/>
                </a:lnTo>
                <a:lnTo>
                  <a:pt x="11604845" y="1338926"/>
                </a:lnTo>
                <a:lnTo>
                  <a:pt x="0" y="1338926"/>
                </a:lnTo>
                <a:lnTo>
                  <a:pt x="0" y="0"/>
                </a:lnTo>
                <a:close/>
              </a:path>
            </a:pathLst>
          </a:custGeom>
          <a:blipFill>
            <a:blip r:embed="rId2"/>
            <a:stretch>
              <a:fillRect l="0" t="0" r="-3570" b="0"/>
            </a:stretch>
          </a:blipFill>
        </p:spPr>
      </p:sp>
      <p:sp>
        <p:nvSpPr>
          <p:cNvPr name="TextBox 8" id="8"/>
          <p:cNvSpPr txBox="true"/>
          <p:nvPr/>
        </p:nvSpPr>
        <p:spPr>
          <a:xfrm rot="0">
            <a:off x="1216500" y="298395"/>
            <a:ext cx="9691523" cy="1601553"/>
          </a:xfrm>
          <a:prstGeom prst="rect">
            <a:avLst/>
          </a:prstGeom>
        </p:spPr>
        <p:txBody>
          <a:bodyPr anchor="t" rtlCol="false" tIns="0" lIns="0" bIns="0" rIns="0">
            <a:spAutoFit/>
          </a:bodyPr>
          <a:lstStyle/>
          <a:p>
            <a:pPr algn="l" marL="0" indent="0" lvl="0">
              <a:lnSpc>
                <a:spcPts val="13050"/>
              </a:lnSpc>
              <a:spcBef>
                <a:spcPct val="0"/>
              </a:spcBef>
            </a:pPr>
            <a:r>
              <a:rPr lang="en-US" b="true" sz="9321">
                <a:solidFill>
                  <a:srgbClr val="465739"/>
                </a:solidFill>
                <a:latin typeface="Glacial Indifference Bold"/>
                <a:ea typeface="Glacial Indifference Bold"/>
                <a:cs typeface="Glacial Indifference Bold"/>
                <a:sym typeface="Glacial Indifference Bold"/>
              </a:rPr>
              <a:t>Introduction </a:t>
            </a:r>
          </a:p>
        </p:txBody>
      </p:sp>
      <p:sp>
        <p:nvSpPr>
          <p:cNvPr name="TextBox 9" id="9"/>
          <p:cNvSpPr txBox="true"/>
          <p:nvPr/>
        </p:nvSpPr>
        <p:spPr>
          <a:xfrm rot="0">
            <a:off x="742162" y="5815507"/>
            <a:ext cx="11113090" cy="1282375"/>
          </a:xfrm>
          <a:prstGeom prst="rect">
            <a:avLst/>
          </a:prstGeom>
        </p:spPr>
        <p:txBody>
          <a:bodyPr anchor="t" rtlCol="false" tIns="0" lIns="0" bIns="0" rIns="0">
            <a:spAutoFit/>
          </a:bodyPr>
          <a:lstStyle/>
          <a:p>
            <a:pPr algn="l" marL="0" indent="0" lvl="0">
              <a:lnSpc>
                <a:spcPts val="3335"/>
              </a:lnSpc>
              <a:spcBef>
                <a:spcPct val="0"/>
              </a:spcBef>
            </a:pPr>
            <a:r>
              <a:rPr lang="en-US" sz="2382">
                <a:solidFill>
                  <a:srgbClr val="000000"/>
                </a:solidFill>
                <a:latin typeface="Futura"/>
                <a:ea typeface="Futura"/>
                <a:cs typeface="Futura"/>
                <a:sym typeface="Futura"/>
              </a:rPr>
              <a:t>Overall, this system provides a comprehensive, time-saving, and reliable experience that simplifies event management and enhances user satisfaction.</a:t>
            </a:r>
          </a:p>
          <a:p>
            <a:pPr algn="l" marL="0" indent="0" lvl="0">
              <a:lnSpc>
                <a:spcPts val="333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514350"/>
            <a:ext cx="5318291" cy="11734612"/>
            <a:chOff x="0" y="0"/>
            <a:chExt cx="1400702" cy="3090597"/>
          </a:xfrm>
        </p:grpSpPr>
        <p:sp>
          <p:nvSpPr>
            <p:cNvPr name="Freeform 3" id="3"/>
            <p:cNvSpPr/>
            <p:nvPr/>
          </p:nvSpPr>
          <p:spPr>
            <a:xfrm flipH="false" flipV="false" rot="0">
              <a:off x="0" y="0"/>
              <a:ext cx="1400702" cy="3090597"/>
            </a:xfrm>
            <a:custGeom>
              <a:avLst/>
              <a:gdLst/>
              <a:ahLst/>
              <a:cxnLst/>
              <a:rect r="r" b="b" t="t" l="l"/>
              <a:pathLst>
                <a:path h="3090597" w="1400702">
                  <a:moveTo>
                    <a:pt x="0" y="0"/>
                  </a:moveTo>
                  <a:lnTo>
                    <a:pt x="1400702" y="0"/>
                  </a:lnTo>
                  <a:lnTo>
                    <a:pt x="1400702" y="3090597"/>
                  </a:lnTo>
                  <a:lnTo>
                    <a:pt x="0" y="3090597"/>
                  </a:lnTo>
                  <a:close/>
                </a:path>
              </a:pathLst>
            </a:custGeom>
            <a:solidFill>
              <a:srgbClr val="EAEBE9"/>
            </a:solidFill>
          </p:spPr>
        </p:sp>
        <p:sp>
          <p:nvSpPr>
            <p:cNvPr name="TextBox 4" id="4"/>
            <p:cNvSpPr txBox="true"/>
            <p:nvPr/>
          </p:nvSpPr>
          <p:spPr>
            <a:xfrm>
              <a:off x="0" y="-47625"/>
              <a:ext cx="1400702" cy="313822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3339231" y="146351"/>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Product vision</a:t>
              </a:r>
            </a:p>
          </p:txBody>
        </p:sp>
      </p:grpSp>
      <p:graphicFrame>
        <p:nvGraphicFramePr>
          <p:cNvPr name="Table 10" id="10"/>
          <p:cNvGraphicFramePr>
            <a:graphicFrameLocks noGrp="true"/>
          </p:cNvGraphicFramePr>
          <p:nvPr/>
        </p:nvGraphicFramePr>
        <p:xfrm>
          <a:off x="5215976" y="867586"/>
          <a:ext cx="12713023" cy="8970740"/>
        </p:xfrm>
        <a:graphic>
          <a:graphicData uri="http://schemas.openxmlformats.org/drawingml/2006/table">
            <a:tbl>
              <a:tblPr/>
              <a:tblGrid>
                <a:gridCol w="3141589"/>
                <a:gridCol w="9571434"/>
              </a:tblGrid>
              <a:tr h="1241964">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For</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Event organizers and attendees</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598848">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Who</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Need an easy and secure platform to manage and attend events</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241964">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The</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Complete digital system for event management</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685639">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That</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Enables users to create events, manage tickets, send notifications, and manage attendance</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164429">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Unlike</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Manual systems or separate tools</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2037895">
                <a:tc>
                  <a:txBody>
                    <a:bodyPr anchor="t" rtlCol="false"/>
                    <a:lstStyle/>
                    <a:p>
                      <a:pPr algn="ctr">
                        <a:lnSpc>
                          <a:spcPts val="4200"/>
                        </a:lnSpc>
                        <a:defRPr/>
                      </a:pPr>
                      <a:r>
                        <a:rPr lang="en-US" sz="3000" b="true">
                          <a:solidFill>
                            <a:srgbClr val="000000"/>
                          </a:solidFill>
                          <a:latin typeface="Times New Roman MT Bold"/>
                          <a:ea typeface="Times New Roman MT Bold"/>
                          <a:cs typeface="Times New Roman MT Bold"/>
                          <a:sym typeface="Times New Roman MT Bold"/>
                        </a:rPr>
                        <a:t>Our product</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Times New Roman MT"/>
                          <a:ea typeface="Times New Roman MT"/>
                          <a:cs typeface="Times New Roman MT"/>
                          <a:sym typeface="Times New Roman MT"/>
                        </a:rPr>
                        <a:t>Is a game-changer because it provides a smooth and secure experience for managing and tracking events from start to finish</a:t>
                      </a:r>
                      <a:endParaRPr lang="en-US" sz="1100"/>
                    </a:p>
                    <a:p>
                      <a:pPr algn="l">
                        <a:lnSpc>
                          <a:spcPts val="3499"/>
                        </a:lnSpc>
                      </a:pP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bl>
          </a:graphicData>
        </a:graphic>
      </p:graphicFrame>
      <p:sp>
        <p:nvSpPr>
          <p:cNvPr name="Freeform 11" id="11"/>
          <p:cNvSpPr/>
          <p:nvPr/>
        </p:nvSpPr>
        <p:spPr>
          <a:xfrm flipH="false" flipV="false" rot="0">
            <a:off x="448235" y="4653235"/>
            <a:ext cx="3219843" cy="3237502"/>
          </a:xfrm>
          <a:custGeom>
            <a:avLst/>
            <a:gdLst/>
            <a:ahLst/>
            <a:cxnLst/>
            <a:rect r="r" b="b" t="t" l="l"/>
            <a:pathLst>
              <a:path h="3237502" w="3219843">
                <a:moveTo>
                  <a:pt x="0" y="0"/>
                </a:moveTo>
                <a:lnTo>
                  <a:pt x="3219843" y="0"/>
                </a:lnTo>
                <a:lnTo>
                  <a:pt x="3219843" y="3237502"/>
                </a:lnTo>
                <a:lnTo>
                  <a:pt x="0" y="3237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514350"/>
            <a:ext cx="17773650" cy="1858476"/>
            <a:chOff x="0" y="0"/>
            <a:chExt cx="4681126" cy="489475"/>
          </a:xfrm>
        </p:grpSpPr>
        <p:sp>
          <p:nvSpPr>
            <p:cNvPr name="Freeform 3" id="3"/>
            <p:cNvSpPr/>
            <p:nvPr/>
          </p:nvSpPr>
          <p:spPr>
            <a:xfrm flipH="false" flipV="false" rot="0">
              <a:off x="0" y="0"/>
              <a:ext cx="4681126" cy="489475"/>
            </a:xfrm>
            <a:custGeom>
              <a:avLst/>
              <a:gdLst/>
              <a:ahLst/>
              <a:cxnLst/>
              <a:rect r="r" b="b" t="t" l="l"/>
              <a:pathLst>
                <a:path h="489475" w="4681126">
                  <a:moveTo>
                    <a:pt x="0" y="0"/>
                  </a:moveTo>
                  <a:lnTo>
                    <a:pt x="4681126" y="0"/>
                  </a:lnTo>
                  <a:lnTo>
                    <a:pt x="4681126" y="489475"/>
                  </a:lnTo>
                  <a:lnTo>
                    <a:pt x="0" y="489475"/>
                  </a:lnTo>
                  <a:close/>
                </a:path>
              </a:pathLst>
            </a:custGeom>
            <a:solidFill>
              <a:srgbClr val="EAEBE9"/>
            </a:solidFill>
          </p:spPr>
        </p:sp>
        <p:sp>
          <p:nvSpPr>
            <p:cNvPr name="TextBox 4" id="4"/>
            <p:cNvSpPr txBox="true"/>
            <p:nvPr/>
          </p:nvSpPr>
          <p:spPr>
            <a:xfrm>
              <a:off x="0" y="-47625"/>
              <a:ext cx="4681126" cy="537100"/>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7657304" y="-2968225"/>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Stackeholders</a:t>
              </a:r>
            </a:p>
          </p:txBody>
        </p:sp>
      </p:grpSp>
      <p:sp>
        <p:nvSpPr>
          <p:cNvPr name="TextBox 10" id="10"/>
          <p:cNvSpPr txBox="true"/>
          <p:nvPr/>
        </p:nvSpPr>
        <p:spPr>
          <a:xfrm rot="0">
            <a:off x="1885923" y="1966969"/>
            <a:ext cx="15678331" cy="7489923"/>
          </a:xfrm>
          <a:prstGeom prst="rect">
            <a:avLst/>
          </a:prstGeom>
        </p:spPr>
        <p:txBody>
          <a:bodyPr anchor="t" rtlCol="false" tIns="0" lIns="0" bIns="0" rIns="0">
            <a:spAutoFit/>
          </a:bodyPr>
          <a:lstStyle/>
          <a:p>
            <a:pPr algn="just">
              <a:lnSpc>
                <a:spcPts val="4668"/>
              </a:lnSpc>
            </a:pPr>
          </a:p>
          <a:p>
            <a:pPr algn="just">
              <a:lnSpc>
                <a:spcPts val="4148"/>
              </a:lnSpc>
            </a:pPr>
            <a:r>
              <a:rPr lang="en-US" sz="3771" b="true">
                <a:solidFill>
                  <a:srgbClr val="3D4D4E"/>
                </a:solidFill>
                <a:latin typeface="Times New Roman MT Bold"/>
                <a:ea typeface="Times New Roman MT Bold"/>
                <a:cs typeface="Times New Roman MT Bold"/>
                <a:sym typeface="Times New Roman MT Bold"/>
              </a:rPr>
              <a:t>Primary Stakeholders (Direct Users):</a:t>
            </a:r>
          </a:p>
          <a:p>
            <a:pPr algn="just">
              <a:lnSpc>
                <a:spcPts val="4148"/>
              </a:lnSpc>
            </a:pPr>
          </a:p>
          <a:p>
            <a:pPr algn="just" marL="814196" indent="-407098" lvl="1">
              <a:lnSpc>
                <a:spcPts val="4148"/>
              </a:lnSpc>
              <a:buFont typeface="Arial"/>
              <a:buChar char="•"/>
            </a:pPr>
            <a:r>
              <a:rPr lang="en-US" sz="3771">
                <a:solidFill>
                  <a:srgbClr val="3D4D4E"/>
                </a:solidFill>
                <a:latin typeface="Times New Roman MT"/>
                <a:ea typeface="Times New Roman MT"/>
                <a:cs typeface="Times New Roman MT"/>
                <a:sym typeface="Times New Roman MT"/>
              </a:rPr>
              <a:t>E</a:t>
            </a:r>
            <a:r>
              <a:rPr lang="en-US" sz="3771">
                <a:solidFill>
                  <a:srgbClr val="3D4D4E"/>
                </a:solidFill>
                <a:latin typeface="Times New Roman MT"/>
                <a:ea typeface="Times New Roman MT"/>
                <a:cs typeface="Times New Roman MT"/>
                <a:sym typeface="Times New Roman MT"/>
              </a:rPr>
              <a:t>vent Organizers: Manage and create events using the system.</a:t>
            </a:r>
          </a:p>
          <a:p>
            <a:pPr algn="just" marL="814196" indent="-407098" lvl="1">
              <a:lnSpc>
                <a:spcPts val="4148"/>
              </a:lnSpc>
              <a:buFont typeface="Arial"/>
              <a:buChar char="•"/>
            </a:pPr>
            <a:r>
              <a:rPr lang="en-US" sz="3771">
                <a:solidFill>
                  <a:srgbClr val="3D4D4E"/>
                </a:solidFill>
                <a:latin typeface="Times New Roman MT"/>
                <a:ea typeface="Times New Roman MT"/>
                <a:cs typeface="Times New Roman MT"/>
                <a:sym typeface="Times New Roman MT"/>
              </a:rPr>
              <a:t>Attendees: Register, pay, and participate in events.</a:t>
            </a:r>
          </a:p>
          <a:p>
            <a:pPr algn="just">
              <a:lnSpc>
                <a:spcPts val="4148"/>
              </a:lnSpc>
            </a:pPr>
          </a:p>
          <a:p>
            <a:pPr algn="just">
              <a:lnSpc>
                <a:spcPts val="4148"/>
              </a:lnSpc>
            </a:pPr>
          </a:p>
          <a:p>
            <a:pPr algn="just">
              <a:lnSpc>
                <a:spcPts val="4148"/>
              </a:lnSpc>
            </a:pPr>
            <a:r>
              <a:rPr lang="en-US" sz="3771" b="true">
                <a:solidFill>
                  <a:srgbClr val="3D4D4E"/>
                </a:solidFill>
                <a:latin typeface="Times New Roman MT Bold"/>
                <a:ea typeface="Times New Roman MT Bold"/>
                <a:cs typeface="Times New Roman MT Bold"/>
                <a:sym typeface="Times New Roman MT Bold"/>
              </a:rPr>
              <a:t>Secondary Stakeholders (Supporting/Indirect):</a:t>
            </a:r>
          </a:p>
          <a:p>
            <a:pPr algn="just" marL="814196" indent="-407098" lvl="1">
              <a:lnSpc>
                <a:spcPts val="4148"/>
              </a:lnSpc>
              <a:buFont typeface="Arial"/>
              <a:buChar char="•"/>
            </a:pPr>
            <a:r>
              <a:rPr lang="en-US" sz="3771">
                <a:solidFill>
                  <a:srgbClr val="3D4D4E"/>
                </a:solidFill>
                <a:latin typeface="Times New Roman MT"/>
                <a:ea typeface="Times New Roman MT"/>
                <a:cs typeface="Times New Roman MT"/>
                <a:sym typeface="Times New Roman MT"/>
              </a:rPr>
              <a:t>M</a:t>
            </a:r>
            <a:r>
              <a:rPr lang="en-US" sz="3771">
                <a:solidFill>
                  <a:srgbClr val="3D4D4E"/>
                </a:solidFill>
                <a:latin typeface="Times New Roman MT"/>
                <a:ea typeface="Times New Roman MT"/>
                <a:cs typeface="Times New Roman MT"/>
                <a:sym typeface="Times New Roman MT"/>
              </a:rPr>
              <a:t>arketing Team: Promote events and attract participants.</a:t>
            </a:r>
          </a:p>
          <a:p>
            <a:pPr algn="just" marL="814196" indent="-407098" lvl="1">
              <a:lnSpc>
                <a:spcPts val="4148"/>
              </a:lnSpc>
              <a:buFont typeface="Arial"/>
              <a:buChar char="•"/>
            </a:pPr>
            <a:r>
              <a:rPr lang="en-US" sz="3771">
                <a:solidFill>
                  <a:srgbClr val="3D4D4E"/>
                </a:solidFill>
                <a:latin typeface="Times New Roman MT"/>
                <a:ea typeface="Times New Roman MT"/>
                <a:cs typeface="Times New Roman MT"/>
                <a:sym typeface="Times New Roman MT"/>
              </a:rPr>
              <a:t>IT Support/ System Admins: Handle technical issues and assist users.</a:t>
            </a:r>
          </a:p>
          <a:p>
            <a:pPr algn="just" marL="814196" indent="-407098" lvl="1">
              <a:lnSpc>
                <a:spcPts val="4148"/>
              </a:lnSpc>
              <a:buFont typeface="Arial"/>
              <a:buChar char="•"/>
            </a:pPr>
            <a:r>
              <a:rPr lang="en-US" sz="3771">
                <a:solidFill>
                  <a:srgbClr val="3D4D4E"/>
                </a:solidFill>
                <a:latin typeface="Times New Roman MT"/>
                <a:ea typeface="Times New Roman MT"/>
                <a:cs typeface="Times New Roman MT"/>
                <a:sym typeface="Times New Roman MT"/>
              </a:rPr>
              <a:t>Accounting Team: Manage financial records, payments</a:t>
            </a:r>
          </a:p>
          <a:p>
            <a:pPr algn="just">
              <a:lnSpc>
                <a:spcPts val="4148"/>
              </a:lnSpc>
            </a:pPr>
          </a:p>
          <a:p>
            <a:pPr algn="just">
              <a:lnSpc>
                <a:spcPts val="4148"/>
              </a:lnSpc>
            </a:pPr>
          </a:p>
          <a:p>
            <a:pPr algn="just" marL="0" indent="0" lvl="0">
              <a:lnSpc>
                <a:spcPts val="414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0208" y="-514350"/>
            <a:ext cx="17463561" cy="2359140"/>
            <a:chOff x="0" y="0"/>
            <a:chExt cx="4599456" cy="621337"/>
          </a:xfrm>
        </p:grpSpPr>
        <p:sp>
          <p:nvSpPr>
            <p:cNvPr name="Freeform 3" id="3"/>
            <p:cNvSpPr/>
            <p:nvPr/>
          </p:nvSpPr>
          <p:spPr>
            <a:xfrm flipH="false" flipV="false" rot="0">
              <a:off x="0" y="0"/>
              <a:ext cx="4599456" cy="621337"/>
            </a:xfrm>
            <a:custGeom>
              <a:avLst/>
              <a:gdLst/>
              <a:ahLst/>
              <a:cxnLst/>
              <a:rect r="r" b="b" t="t" l="l"/>
              <a:pathLst>
                <a:path h="621337" w="4599456">
                  <a:moveTo>
                    <a:pt x="0" y="0"/>
                  </a:moveTo>
                  <a:lnTo>
                    <a:pt x="4599456" y="0"/>
                  </a:lnTo>
                  <a:lnTo>
                    <a:pt x="4599456" y="621337"/>
                  </a:lnTo>
                  <a:lnTo>
                    <a:pt x="0" y="621337"/>
                  </a:lnTo>
                  <a:close/>
                </a:path>
              </a:pathLst>
            </a:custGeom>
            <a:solidFill>
              <a:srgbClr val="EAEBE9"/>
            </a:solidFill>
          </p:spPr>
        </p:sp>
        <p:sp>
          <p:nvSpPr>
            <p:cNvPr name="TextBox 4" id="4"/>
            <p:cNvSpPr txBox="true"/>
            <p:nvPr/>
          </p:nvSpPr>
          <p:spPr>
            <a:xfrm>
              <a:off x="0" y="-47625"/>
              <a:ext cx="4599456" cy="66896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5865957" y="-2674011"/>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Scrum Team</a:t>
              </a:r>
            </a:p>
          </p:txBody>
        </p:sp>
      </p:grpSp>
      <p:graphicFrame>
        <p:nvGraphicFramePr>
          <p:cNvPr name="Table 10" id="10"/>
          <p:cNvGraphicFramePr>
            <a:graphicFrameLocks noGrp="true"/>
          </p:cNvGraphicFramePr>
          <p:nvPr/>
        </p:nvGraphicFramePr>
        <p:xfrm>
          <a:off x="2141570" y="2671401"/>
          <a:ext cx="14004859" cy="6586899"/>
        </p:xfrm>
        <a:graphic>
          <a:graphicData uri="http://schemas.openxmlformats.org/drawingml/2006/table">
            <a:tbl>
              <a:tblPr/>
              <a:tblGrid>
                <a:gridCol w="4509197"/>
                <a:gridCol w="4928898"/>
                <a:gridCol w="4566764"/>
              </a:tblGrid>
              <a:tr h="1448920">
                <a:tc>
                  <a:txBody>
                    <a:bodyPr anchor="t" rtlCol="false"/>
                    <a:lstStyle/>
                    <a:p>
                      <a:pPr algn="ctr">
                        <a:lnSpc>
                          <a:spcPts val="3499"/>
                        </a:lnSpc>
                        <a:defRPr/>
                      </a:pPr>
                      <a:r>
                        <a:rPr lang="en-US" sz="2499" b="true">
                          <a:solidFill>
                            <a:srgbClr val="000000"/>
                          </a:solidFill>
                          <a:latin typeface="Times New Roman MT Bold"/>
                          <a:ea typeface="Times New Roman MT Bold"/>
                          <a:cs typeface="Times New Roman MT Bold"/>
                          <a:sym typeface="Times New Roman MT Bold"/>
                        </a:rPr>
                        <a:t>Responsibilities</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Times New Roman MT Bold"/>
                          <a:ea typeface="Times New Roman MT Bold"/>
                          <a:cs typeface="Times New Roman MT Bold"/>
                          <a:sym typeface="Times New Roman MT Bold"/>
                        </a:rPr>
                        <a:t>Member</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Times New Roman MT Bold"/>
                          <a:ea typeface="Times New Roman MT Bold"/>
                          <a:cs typeface="Times New Roman MT Bold"/>
                          <a:sym typeface="Times New Roman MT Bold"/>
                        </a:rPr>
                        <a:t>Role</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408701">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Define the vision and prioritize backlog items</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Rand</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Product Owner</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1661810">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Organize meetings and remove obstacles</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Rana</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Scrum Master</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r h="2067469">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Develop front-end, back-end, database, and testing</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Lujain</a:t>
                      </a:r>
                      <a:endParaRPr lang="en-US" sz="1100"/>
                    </a:p>
                    <a:p>
                      <a:pPr algn="ctr">
                        <a:lnSpc>
                          <a:spcPts val="2800"/>
                        </a:lnSpc>
                      </a:pPr>
                      <a:r>
                        <a:rPr lang="en-US" sz="2000">
                          <a:solidFill>
                            <a:srgbClr val="000000"/>
                          </a:solidFill>
                          <a:latin typeface="Times New Roman MT"/>
                          <a:ea typeface="Times New Roman MT"/>
                          <a:cs typeface="Times New Roman MT"/>
                          <a:sym typeface="Times New Roman MT"/>
                        </a:rPr>
                        <a:t>Munirah</a:t>
                      </a:r>
                    </a:p>
                    <a:p>
                      <a:pPr algn="ctr">
                        <a:lnSpc>
                          <a:spcPts val="2800"/>
                        </a:lnSpc>
                      </a:pPr>
                      <a:r>
                        <a:rPr lang="en-US" sz="2000">
                          <a:solidFill>
                            <a:srgbClr val="000000"/>
                          </a:solidFill>
                          <a:latin typeface="Times New Roman MT"/>
                          <a:ea typeface="Times New Roman MT"/>
                          <a:cs typeface="Times New Roman MT"/>
                          <a:sym typeface="Times New Roman MT"/>
                        </a:rPr>
                        <a:t>Jumanah</a:t>
                      </a:r>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Times New Roman MT"/>
                          <a:ea typeface="Times New Roman MT"/>
                          <a:cs typeface="Times New Roman MT"/>
                          <a:sym typeface="Times New Roman MT"/>
                        </a:rPr>
                        <a:t>Development Team</a:t>
                      </a:r>
                      <a:endParaRPr lang="en-US" sz="1100"/>
                    </a:p>
                  </a:txBody>
                  <a:tcPr marL="109970" marR="109970" marT="109970" marB="109970" anchor="ctr">
                    <a:lnL cmpd="sng" algn="ctr" cap="flat" w="18328">
                      <a:solidFill>
                        <a:srgbClr val="000000"/>
                      </a:solidFill>
                      <a:prstDash val="solid"/>
                      <a:round/>
                      <a:headEnd type="none" w="med" len="med"/>
                      <a:tailEnd type="none" w="med" len="med"/>
                    </a:lnL>
                    <a:lnR cmpd="sng" algn="ctr" cap="flat" w="18328">
                      <a:solidFill>
                        <a:srgbClr val="000000"/>
                      </a:solidFill>
                      <a:prstDash val="solid"/>
                      <a:round/>
                      <a:headEnd type="none" w="med" len="med"/>
                      <a:tailEnd type="none" w="med" len="med"/>
                    </a:lnR>
                    <a:lnT cmpd="sng" algn="ctr" cap="flat" w="18328">
                      <a:solidFill>
                        <a:srgbClr val="000000"/>
                      </a:solidFill>
                      <a:prstDash val="solid"/>
                      <a:round/>
                      <a:headEnd type="none" w="med" len="med"/>
                      <a:tailEnd type="none" w="med" len="med"/>
                    </a:lnT>
                    <a:lnB cmpd="sng" algn="ctr" cap="flat" w="18328">
                      <a:solidFill>
                        <a:srgbClr val="000000"/>
                      </a:solidFill>
                      <a:prstDash val="solid"/>
                      <a:round/>
                      <a:headEnd type="none" w="med" len="med"/>
                      <a:tailEnd type="none" w="med" len="med"/>
                    </a:lnB>
                  </a:tcPr>
                </a:tc>
              </a:tr>
            </a:tbl>
          </a:graphicData>
        </a:graphic>
      </p:graphicFrame>
      <p:sp>
        <p:nvSpPr>
          <p:cNvPr name="Freeform 11" id="11"/>
          <p:cNvSpPr/>
          <p:nvPr/>
        </p:nvSpPr>
        <p:spPr>
          <a:xfrm flipH="false" flipV="false" rot="0">
            <a:off x="6951421" y="685507"/>
            <a:ext cx="1150151" cy="617120"/>
          </a:xfrm>
          <a:custGeom>
            <a:avLst/>
            <a:gdLst/>
            <a:ahLst/>
            <a:cxnLst/>
            <a:rect r="r" b="b" t="t" l="l"/>
            <a:pathLst>
              <a:path h="617120" w="1150151">
                <a:moveTo>
                  <a:pt x="0" y="0"/>
                </a:moveTo>
                <a:lnTo>
                  <a:pt x="1150151" y="0"/>
                </a:lnTo>
                <a:lnTo>
                  <a:pt x="1150151" y="617120"/>
                </a:lnTo>
                <a:lnTo>
                  <a:pt x="0" y="6171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0208" y="-514350"/>
            <a:ext cx="17463561" cy="2359140"/>
            <a:chOff x="0" y="0"/>
            <a:chExt cx="4599456" cy="621337"/>
          </a:xfrm>
        </p:grpSpPr>
        <p:sp>
          <p:nvSpPr>
            <p:cNvPr name="Freeform 3" id="3"/>
            <p:cNvSpPr/>
            <p:nvPr/>
          </p:nvSpPr>
          <p:spPr>
            <a:xfrm flipH="false" flipV="false" rot="0">
              <a:off x="0" y="0"/>
              <a:ext cx="4599456" cy="621337"/>
            </a:xfrm>
            <a:custGeom>
              <a:avLst/>
              <a:gdLst/>
              <a:ahLst/>
              <a:cxnLst/>
              <a:rect r="r" b="b" t="t" l="l"/>
              <a:pathLst>
                <a:path h="621337" w="4599456">
                  <a:moveTo>
                    <a:pt x="0" y="0"/>
                  </a:moveTo>
                  <a:lnTo>
                    <a:pt x="4599456" y="0"/>
                  </a:lnTo>
                  <a:lnTo>
                    <a:pt x="4599456" y="621337"/>
                  </a:lnTo>
                  <a:lnTo>
                    <a:pt x="0" y="621337"/>
                  </a:lnTo>
                  <a:close/>
                </a:path>
              </a:pathLst>
            </a:custGeom>
            <a:solidFill>
              <a:srgbClr val="EAEBE9"/>
            </a:solidFill>
          </p:spPr>
        </p:sp>
        <p:sp>
          <p:nvSpPr>
            <p:cNvPr name="TextBox 4" id="4"/>
            <p:cNvSpPr txBox="true"/>
            <p:nvPr/>
          </p:nvSpPr>
          <p:spPr>
            <a:xfrm>
              <a:off x="0" y="-47625"/>
              <a:ext cx="4599456" cy="66896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5865957" y="-2674011"/>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Product Backlog </a:t>
              </a:r>
            </a:p>
          </p:txBody>
        </p:sp>
      </p:grpSp>
      <p:sp>
        <p:nvSpPr>
          <p:cNvPr name="Freeform 10" id="10"/>
          <p:cNvSpPr/>
          <p:nvPr/>
        </p:nvSpPr>
        <p:spPr>
          <a:xfrm flipH="false" flipV="false" rot="0">
            <a:off x="209995" y="2208664"/>
            <a:ext cx="7572537" cy="5234516"/>
          </a:xfrm>
          <a:custGeom>
            <a:avLst/>
            <a:gdLst/>
            <a:ahLst/>
            <a:cxnLst/>
            <a:rect r="r" b="b" t="t" l="l"/>
            <a:pathLst>
              <a:path h="5234516" w="7572537">
                <a:moveTo>
                  <a:pt x="0" y="0"/>
                </a:moveTo>
                <a:lnTo>
                  <a:pt x="7572537" y="0"/>
                </a:lnTo>
                <a:lnTo>
                  <a:pt x="7572537" y="5234516"/>
                </a:lnTo>
                <a:lnTo>
                  <a:pt x="0" y="5234516"/>
                </a:lnTo>
                <a:lnTo>
                  <a:pt x="0" y="0"/>
                </a:lnTo>
                <a:close/>
              </a:path>
            </a:pathLst>
          </a:custGeom>
          <a:blipFill>
            <a:blip r:embed="rId2"/>
            <a:stretch>
              <a:fillRect l="0" t="0" r="0" b="0"/>
            </a:stretch>
          </a:blipFill>
        </p:spPr>
      </p:sp>
      <p:sp>
        <p:nvSpPr>
          <p:cNvPr name="Freeform 11" id="11"/>
          <p:cNvSpPr/>
          <p:nvPr/>
        </p:nvSpPr>
        <p:spPr>
          <a:xfrm flipH="false" flipV="false" rot="0">
            <a:off x="7729327" y="2208664"/>
            <a:ext cx="7438623" cy="5197738"/>
          </a:xfrm>
          <a:custGeom>
            <a:avLst/>
            <a:gdLst/>
            <a:ahLst/>
            <a:cxnLst/>
            <a:rect r="r" b="b" t="t" l="l"/>
            <a:pathLst>
              <a:path h="5197738" w="7438623">
                <a:moveTo>
                  <a:pt x="0" y="0"/>
                </a:moveTo>
                <a:lnTo>
                  <a:pt x="7438623" y="0"/>
                </a:lnTo>
                <a:lnTo>
                  <a:pt x="7438623" y="5197738"/>
                </a:lnTo>
                <a:lnTo>
                  <a:pt x="0" y="5197738"/>
                </a:lnTo>
                <a:lnTo>
                  <a:pt x="0" y="0"/>
                </a:lnTo>
                <a:close/>
              </a:path>
            </a:pathLst>
          </a:custGeom>
          <a:blipFill>
            <a:blip r:embed="rId3"/>
            <a:stretch>
              <a:fillRect l="0" t="0" r="0" b="0"/>
            </a:stretch>
          </a:blipFill>
        </p:spPr>
      </p:sp>
      <p:sp>
        <p:nvSpPr>
          <p:cNvPr name="Freeform 12" id="12"/>
          <p:cNvSpPr/>
          <p:nvPr/>
        </p:nvSpPr>
        <p:spPr>
          <a:xfrm flipH="false" flipV="false" rot="0">
            <a:off x="14534838" y="2208664"/>
            <a:ext cx="3432574" cy="5197738"/>
          </a:xfrm>
          <a:custGeom>
            <a:avLst/>
            <a:gdLst/>
            <a:ahLst/>
            <a:cxnLst/>
            <a:rect r="r" b="b" t="t" l="l"/>
            <a:pathLst>
              <a:path h="5197738" w="3432574">
                <a:moveTo>
                  <a:pt x="0" y="0"/>
                </a:moveTo>
                <a:lnTo>
                  <a:pt x="3432574" y="0"/>
                </a:lnTo>
                <a:lnTo>
                  <a:pt x="3432574" y="5197738"/>
                </a:lnTo>
                <a:lnTo>
                  <a:pt x="0" y="5197738"/>
                </a:lnTo>
                <a:lnTo>
                  <a:pt x="0" y="0"/>
                </a:lnTo>
                <a:close/>
              </a:path>
            </a:pathLst>
          </a:custGeom>
          <a:blipFill>
            <a:blip r:embed="rId4"/>
            <a:stretch>
              <a:fillRect l="-1326" t="0" r="-1326" b="0"/>
            </a:stretch>
          </a:blipFill>
        </p:spPr>
      </p:sp>
      <p:sp>
        <p:nvSpPr>
          <p:cNvPr name="Freeform 13" id="13"/>
          <p:cNvSpPr/>
          <p:nvPr/>
        </p:nvSpPr>
        <p:spPr>
          <a:xfrm flipH="false" flipV="false" rot="0">
            <a:off x="7532010" y="703742"/>
            <a:ext cx="569562" cy="649916"/>
          </a:xfrm>
          <a:custGeom>
            <a:avLst/>
            <a:gdLst/>
            <a:ahLst/>
            <a:cxnLst/>
            <a:rect r="r" b="b" t="t" l="l"/>
            <a:pathLst>
              <a:path h="649916" w="569562">
                <a:moveTo>
                  <a:pt x="0" y="0"/>
                </a:moveTo>
                <a:lnTo>
                  <a:pt x="569562" y="0"/>
                </a:lnTo>
                <a:lnTo>
                  <a:pt x="569562" y="649916"/>
                </a:lnTo>
                <a:lnTo>
                  <a:pt x="0" y="6499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0208" y="-514350"/>
            <a:ext cx="17463561" cy="2359140"/>
            <a:chOff x="0" y="0"/>
            <a:chExt cx="4599456" cy="621337"/>
          </a:xfrm>
        </p:grpSpPr>
        <p:sp>
          <p:nvSpPr>
            <p:cNvPr name="Freeform 3" id="3"/>
            <p:cNvSpPr/>
            <p:nvPr/>
          </p:nvSpPr>
          <p:spPr>
            <a:xfrm flipH="false" flipV="false" rot="0">
              <a:off x="0" y="0"/>
              <a:ext cx="4599456" cy="621337"/>
            </a:xfrm>
            <a:custGeom>
              <a:avLst/>
              <a:gdLst/>
              <a:ahLst/>
              <a:cxnLst/>
              <a:rect r="r" b="b" t="t" l="l"/>
              <a:pathLst>
                <a:path h="621337" w="4599456">
                  <a:moveTo>
                    <a:pt x="0" y="0"/>
                  </a:moveTo>
                  <a:lnTo>
                    <a:pt x="4599456" y="0"/>
                  </a:lnTo>
                  <a:lnTo>
                    <a:pt x="4599456" y="621337"/>
                  </a:lnTo>
                  <a:lnTo>
                    <a:pt x="0" y="621337"/>
                  </a:lnTo>
                  <a:close/>
                </a:path>
              </a:pathLst>
            </a:custGeom>
            <a:solidFill>
              <a:srgbClr val="EAEBE9"/>
            </a:solidFill>
          </p:spPr>
        </p:sp>
        <p:sp>
          <p:nvSpPr>
            <p:cNvPr name="TextBox 4" id="4"/>
            <p:cNvSpPr txBox="true"/>
            <p:nvPr/>
          </p:nvSpPr>
          <p:spPr>
            <a:xfrm>
              <a:off x="0" y="-47625"/>
              <a:ext cx="4599456" cy="66896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5865957" y="-2674011"/>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Sprint Backlog </a:t>
              </a:r>
            </a:p>
          </p:txBody>
        </p:sp>
      </p:grpSp>
      <p:sp>
        <p:nvSpPr>
          <p:cNvPr name="Freeform 10" id="10"/>
          <p:cNvSpPr/>
          <p:nvPr/>
        </p:nvSpPr>
        <p:spPr>
          <a:xfrm flipH="false" flipV="false" rot="0">
            <a:off x="1028700" y="2331227"/>
            <a:ext cx="15804653" cy="7603470"/>
          </a:xfrm>
          <a:custGeom>
            <a:avLst/>
            <a:gdLst/>
            <a:ahLst/>
            <a:cxnLst/>
            <a:rect r="r" b="b" t="t" l="l"/>
            <a:pathLst>
              <a:path h="7603470" w="15804653">
                <a:moveTo>
                  <a:pt x="0" y="0"/>
                </a:moveTo>
                <a:lnTo>
                  <a:pt x="15804653" y="0"/>
                </a:lnTo>
                <a:lnTo>
                  <a:pt x="15804653" y="7603469"/>
                </a:lnTo>
                <a:lnTo>
                  <a:pt x="0" y="7603469"/>
                </a:lnTo>
                <a:lnTo>
                  <a:pt x="0" y="0"/>
                </a:lnTo>
                <a:close/>
              </a:path>
            </a:pathLst>
          </a:custGeom>
          <a:blipFill>
            <a:blip r:embed="rId2"/>
            <a:stretch>
              <a:fillRect l="0" t="0" r="0" b="0"/>
            </a:stretch>
          </a:blipFill>
        </p:spPr>
      </p:sp>
      <p:sp>
        <p:nvSpPr>
          <p:cNvPr name="Freeform 11" id="11"/>
          <p:cNvSpPr/>
          <p:nvPr/>
        </p:nvSpPr>
        <p:spPr>
          <a:xfrm flipH="false" flipV="false" rot="0">
            <a:off x="7225406" y="665220"/>
            <a:ext cx="569562" cy="649916"/>
          </a:xfrm>
          <a:custGeom>
            <a:avLst/>
            <a:gdLst/>
            <a:ahLst/>
            <a:cxnLst/>
            <a:rect r="r" b="b" t="t" l="l"/>
            <a:pathLst>
              <a:path h="649916" w="569562">
                <a:moveTo>
                  <a:pt x="0" y="0"/>
                </a:moveTo>
                <a:lnTo>
                  <a:pt x="569563" y="0"/>
                </a:lnTo>
                <a:lnTo>
                  <a:pt x="569563" y="649916"/>
                </a:lnTo>
                <a:lnTo>
                  <a:pt x="0" y="6499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0208" y="-514350"/>
            <a:ext cx="17463561" cy="2359140"/>
            <a:chOff x="0" y="0"/>
            <a:chExt cx="4599456" cy="621337"/>
          </a:xfrm>
        </p:grpSpPr>
        <p:sp>
          <p:nvSpPr>
            <p:cNvPr name="Freeform 3" id="3"/>
            <p:cNvSpPr/>
            <p:nvPr/>
          </p:nvSpPr>
          <p:spPr>
            <a:xfrm flipH="false" flipV="false" rot="0">
              <a:off x="0" y="0"/>
              <a:ext cx="4599456" cy="621337"/>
            </a:xfrm>
            <a:custGeom>
              <a:avLst/>
              <a:gdLst/>
              <a:ahLst/>
              <a:cxnLst/>
              <a:rect r="r" b="b" t="t" l="l"/>
              <a:pathLst>
                <a:path h="621337" w="4599456">
                  <a:moveTo>
                    <a:pt x="0" y="0"/>
                  </a:moveTo>
                  <a:lnTo>
                    <a:pt x="4599456" y="0"/>
                  </a:lnTo>
                  <a:lnTo>
                    <a:pt x="4599456" y="621337"/>
                  </a:lnTo>
                  <a:lnTo>
                    <a:pt x="0" y="621337"/>
                  </a:lnTo>
                  <a:close/>
                </a:path>
              </a:pathLst>
            </a:custGeom>
            <a:solidFill>
              <a:srgbClr val="EAEBE9"/>
            </a:solidFill>
          </p:spPr>
        </p:sp>
        <p:sp>
          <p:nvSpPr>
            <p:cNvPr name="TextBox 4" id="4"/>
            <p:cNvSpPr txBox="true"/>
            <p:nvPr/>
          </p:nvSpPr>
          <p:spPr>
            <a:xfrm>
              <a:off x="0" y="-47625"/>
              <a:ext cx="4599456" cy="66896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5865957" y="-2674011"/>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Scrum Meeting </a:t>
              </a:r>
            </a:p>
          </p:txBody>
        </p:sp>
      </p:grpSp>
      <p:sp>
        <p:nvSpPr>
          <p:cNvPr name="Freeform 10" id="10"/>
          <p:cNvSpPr/>
          <p:nvPr/>
        </p:nvSpPr>
        <p:spPr>
          <a:xfrm flipH="false" flipV="false" rot="0">
            <a:off x="7355614" y="511778"/>
            <a:ext cx="1253159" cy="811136"/>
          </a:xfrm>
          <a:custGeom>
            <a:avLst/>
            <a:gdLst/>
            <a:ahLst/>
            <a:cxnLst/>
            <a:rect r="r" b="b" t="t" l="l"/>
            <a:pathLst>
              <a:path h="811136" w="1253159">
                <a:moveTo>
                  <a:pt x="0" y="0"/>
                </a:moveTo>
                <a:lnTo>
                  <a:pt x="1253160" y="0"/>
                </a:lnTo>
                <a:lnTo>
                  <a:pt x="1253160" y="811136"/>
                </a:lnTo>
                <a:lnTo>
                  <a:pt x="0" y="811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855239" y="2045810"/>
            <a:ext cx="16577523" cy="7786538"/>
            <a:chOff x="0" y="0"/>
            <a:chExt cx="22103364" cy="10382051"/>
          </a:xfrm>
        </p:grpSpPr>
        <p:sp>
          <p:nvSpPr>
            <p:cNvPr name="Freeform 12" id="12"/>
            <p:cNvSpPr/>
            <p:nvPr/>
          </p:nvSpPr>
          <p:spPr>
            <a:xfrm flipH="false" flipV="false" rot="0">
              <a:off x="0" y="0"/>
              <a:ext cx="11333923" cy="10382051"/>
            </a:xfrm>
            <a:custGeom>
              <a:avLst/>
              <a:gdLst/>
              <a:ahLst/>
              <a:cxnLst/>
              <a:rect r="r" b="b" t="t" l="l"/>
              <a:pathLst>
                <a:path h="10382051" w="11333923">
                  <a:moveTo>
                    <a:pt x="0" y="0"/>
                  </a:moveTo>
                  <a:lnTo>
                    <a:pt x="11333923" y="0"/>
                  </a:lnTo>
                  <a:lnTo>
                    <a:pt x="11333923" y="10382051"/>
                  </a:lnTo>
                  <a:lnTo>
                    <a:pt x="0" y="10382051"/>
                  </a:lnTo>
                  <a:lnTo>
                    <a:pt x="0" y="0"/>
                  </a:lnTo>
                  <a:close/>
                </a:path>
              </a:pathLst>
            </a:custGeom>
            <a:blipFill>
              <a:blip r:embed="rId4"/>
              <a:stretch>
                <a:fillRect l="0" t="0" r="0" b="0"/>
              </a:stretch>
            </a:blipFill>
          </p:spPr>
        </p:sp>
        <p:sp>
          <p:nvSpPr>
            <p:cNvPr name="Freeform 13" id="13"/>
            <p:cNvSpPr/>
            <p:nvPr/>
          </p:nvSpPr>
          <p:spPr>
            <a:xfrm flipH="false" flipV="false" rot="0">
              <a:off x="11333923" y="0"/>
              <a:ext cx="10769441" cy="10382051"/>
            </a:xfrm>
            <a:custGeom>
              <a:avLst/>
              <a:gdLst/>
              <a:ahLst/>
              <a:cxnLst/>
              <a:rect r="r" b="b" t="t" l="l"/>
              <a:pathLst>
                <a:path h="10382051" w="10769441">
                  <a:moveTo>
                    <a:pt x="0" y="0"/>
                  </a:moveTo>
                  <a:lnTo>
                    <a:pt x="10769441" y="0"/>
                  </a:lnTo>
                  <a:lnTo>
                    <a:pt x="10769441" y="10382051"/>
                  </a:lnTo>
                  <a:lnTo>
                    <a:pt x="0" y="10382051"/>
                  </a:lnTo>
                  <a:lnTo>
                    <a:pt x="0" y="0"/>
                  </a:lnTo>
                  <a:close/>
                </a:path>
              </a:pathLst>
            </a:custGeom>
            <a:blipFill>
              <a:blip r:embed="rId5"/>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514350"/>
            <a:ext cx="17773650" cy="1858476"/>
            <a:chOff x="0" y="0"/>
            <a:chExt cx="4681126" cy="489475"/>
          </a:xfrm>
        </p:grpSpPr>
        <p:sp>
          <p:nvSpPr>
            <p:cNvPr name="Freeform 3" id="3"/>
            <p:cNvSpPr/>
            <p:nvPr/>
          </p:nvSpPr>
          <p:spPr>
            <a:xfrm flipH="false" flipV="false" rot="0">
              <a:off x="0" y="0"/>
              <a:ext cx="4681126" cy="489475"/>
            </a:xfrm>
            <a:custGeom>
              <a:avLst/>
              <a:gdLst/>
              <a:ahLst/>
              <a:cxnLst/>
              <a:rect r="r" b="b" t="t" l="l"/>
              <a:pathLst>
                <a:path h="489475" w="4681126">
                  <a:moveTo>
                    <a:pt x="0" y="0"/>
                  </a:moveTo>
                  <a:lnTo>
                    <a:pt x="4681126" y="0"/>
                  </a:lnTo>
                  <a:lnTo>
                    <a:pt x="4681126" y="489475"/>
                  </a:lnTo>
                  <a:lnTo>
                    <a:pt x="0" y="489475"/>
                  </a:lnTo>
                  <a:close/>
                </a:path>
              </a:pathLst>
            </a:custGeom>
            <a:solidFill>
              <a:srgbClr val="EAEBE9"/>
            </a:solidFill>
          </p:spPr>
        </p:sp>
        <p:sp>
          <p:nvSpPr>
            <p:cNvPr name="TextBox 4" id="4"/>
            <p:cNvSpPr txBox="true"/>
            <p:nvPr/>
          </p:nvSpPr>
          <p:spPr>
            <a:xfrm>
              <a:off x="0" y="-47625"/>
              <a:ext cx="4681126" cy="537100"/>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5400000">
            <a:off x="7657304" y="-2968225"/>
            <a:ext cx="657694" cy="7336156"/>
            <a:chOff x="0" y="0"/>
            <a:chExt cx="876925" cy="9781541"/>
          </a:xfrm>
        </p:grpSpPr>
        <p:grpSp>
          <p:nvGrpSpPr>
            <p:cNvPr name="Group 6" id="6"/>
            <p:cNvGrpSpPr/>
            <p:nvPr/>
          </p:nvGrpSpPr>
          <p:grpSpPr>
            <a:xfrm rot="0">
              <a:off x="0" y="0"/>
              <a:ext cx="876925" cy="876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5400000">
              <a:off x="-3717117" y="5016049"/>
              <a:ext cx="8482609" cy="1048375"/>
            </a:xfrm>
            <a:prstGeom prst="rect">
              <a:avLst/>
            </a:prstGeom>
          </p:spPr>
          <p:txBody>
            <a:bodyPr anchor="t" rtlCol="false" tIns="0" lIns="0" bIns="0" rIns="0">
              <a:spAutoFit/>
            </a:bodyPr>
            <a:lstStyle/>
            <a:p>
              <a:pPr algn="l" marL="0" indent="0" lvl="0">
                <a:lnSpc>
                  <a:spcPts val="6119"/>
                </a:lnSpc>
                <a:spcBef>
                  <a:spcPct val="0"/>
                </a:spcBef>
              </a:pPr>
              <a:r>
                <a:rPr lang="en-US" sz="4371" i="true">
                  <a:solidFill>
                    <a:srgbClr val="465739"/>
                  </a:solidFill>
                  <a:latin typeface="Futura Italics"/>
                  <a:ea typeface="Futura Italics"/>
                  <a:cs typeface="Futura Italics"/>
                  <a:sym typeface="Futura Italics"/>
                </a:rPr>
                <a:t>Summary of the product</a:t>
              </a:r>
            </a:p>
          </p:txBody>
        </p:sp>
      </p:grpSp>
      <p:sp>
        <p:nvSpPr>
          <p:cNvPr name="TextBox 10" id="10"/>
          <p:cNvSpPr txBox="true"/>
          <p:nvPr/>
        </p:nvSpPr>
        <p:spPr>
          <a:xfrm rot="0">
            <a:off x="1792190" y="2701374"/>
            <a:ext cx="14703619" cy="5866071"/>
          </a:xfrm>
          <a:prstGeom prst="rect">
            <a:avLst/>
          </a:prstGeom>
        </p:spPr>
        <p:txBody>
          <a:bodyPr anchor="t" rtlCol="false" tIns="0" lIns="0" bIns="0" rIns="0">
            <a:spAutoFit/>
          </a:bodyPr>
          <a:lstStyle/>
          <a:p>
            <a:pPr algn="just">
              <a:lnSpc>
                <a:spcPts val="4676"/>
              </a:lnSpc>
            </a:pPr>
          </a:p>
          <a:p>
            <a:pPr algn="just">
              <a:lnSpc>
                <a:spcPts val="4155"/>
              </a:lnSpc>
            </a:pPr>
            <a:r>
              <a:rPr lang="en-US" sz="3777">
                <a:solidFill>
                  <a:srgbClr val="3D4D4E"/>
                </a:solidFill>
                <a:latin typeface="Times New Roman MT"/>
                <a:ea typeface="Times New Roman MT"/>
                <a:cs typeface="Times New Roman MT"/>
                <a:sym typeface="Times New Roman MT"/>
              </a:rPr>
              <a:t>The Event Management System simplifies organizing and attending events. Organizers can create and manage events, set ticket types, define venue capacities, and send notifications. Attendees can register online, receive QR codes for tickets, and get reminders. The system improves efficiency, reduces manual errors, and enhances the overall event experience for both organizers and attendees.</a:t>
            </a:r>
          </a:p>
          <a:p>
            <a:pPr algn="just">
              <a:lnSpc>
                <a:spcPts val="4155"/>
              </a:lnSpc>
            </a:pPr>
          </a:p>
          <a:p>
            <a:pPr algn="just">
              <a:lnSpc>
                <a:spcPts val="4155"/>
              </a:lnSpc>
            </a:pPr>
          </a:p>
          <a:p>
            <a:pPr algn="just">
              <a:lnSpc>
                <a:spcPts val="4155"/>
              </a:lnSpc>
            </a:pPr>
          </a:p>
          <a:p>
            <a:pPr algn="just" marL="0" indent="0" lvl="0">
              <a:lnSpc>
                <a:spcPts val="4155"/>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92370" y="792370"/>
            <a:ext cx="472661" cy="4726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a:off x="17364075" y="6915141"/>
            <a:ext cx="0" cy="2610617"/>
          </a:xfrm>
          <a:prstGeom prst="line">
            <a:avLst/>
          </a:prstGeom>
          <a:ln cap="flat" w="123825">
            <a:solidFill>
              <a:srgbClr val="BBC8B1"/>
            </a:solidFill>
            <a:prstDash val="sysDot"/>
            <a:headEnd type="none" len="sm" w="sm"/>
            <a:tailEnd type="none" len="sm" w="sm"/>
          </a:ln>
        </p:spPr>
      </p:sp>
      <p:grpSp>
        <p:nvGrpSpPr>
          <p:cNvPr name="Group 6" id="6"/>
          <p:cNvGrpSpPr/>
          <p:nvPr/>
        </p:nvGrpSpPr>
        <p:grpSpPr>
          <a:xfrm rot="0">
            <a:off x="13756206" y="-514350"/>
            <a:ext cx="6163724" cy="3086100"/>
            <a:chOff x="0" y="0"/>
            <a:chExt cx="1623368" cy="812800"/>
          </a:xfrm>
        </p:grpSpPr>
        <p:sp>
          <p:nvSpPr>
            <p:cNvPr name="Freeform 7" id="7"/>
            <p:cNvSpPr/>
            <p:nvPr/>
          </p:nvSpPr>
          <p:spPr>
            <a:xfrm flipH="false" flipV="false" rot="0">
              <a:off x="0" y="0"/>
              <a:ext cx="1623368" cy="812800"/>
            </a:xfrm>
            <a:custGeom>
              <a:avLst/>
              <a:gdLst/>
              <a:ahLst/>
              <a:cxnLst/>
              <a:rect r="r" b="b" t="t" l="l"/>
              <a:pathLst>
                <a:path h="812800" w="1623368">
                  <a:moveTo>
                    <a:pt x="0" y="0"/>
                  </a:moveTo>
                  <a:lnTo>
                    <a:pt x="1623368" y="0"/>
                  </a:lnTo>
                  <a:lnTo>
                    <a:pt x="1623368" y="812800"/>
                  </a:lnTo>
                  <a:lnTo>
                    <a:pt x="0" y="812800"/>
                  </a:lnTo>
                  <a:close/>
                </a:path>
              </a:pathLst>
            </a:custGeom>
            <a:solidFill>
              <a:srgbClr val="EAEBE9"/>
            </a:solidFill>
          </p:spPr>
        </p:sp>
        <p:sp>
          <p:nvSpPr>
            <p:cNvPr name="TextBox 8" id="8"/>
            <p:cNvSpPr txBox="true"/>
            <p:nvPr/>
          </p:nvSpPr>
          <p:spPr>
            <a:xfrm>
              <a:off x="0" y="-47625"/>
              <a:ext cx="1623368" cy="860425"/>
            </a:xfrm>
            <a:prstGeom prst="rect">
              <a:avLst/>
            </a:prstGeom>
          </p:spPr>
          <p:txBody>
            <a:bodyPr anchor="ctr" rtlCol="false" tIns="50800" lIns="50800" bIns="50800" rIns="50800"/>
            <a:lstStyle/>
            <a:p>
              <a:pPr algn="ctr">
                <a:lnSpc>
                  <a:spcPts val="3012"/>
                </a:lnSpc>
              </a:pPr>
            </a:p>
          </p:txBody>
        </p:sp>
      </p:grpSp>
      <p:grpSp>
        <p:nvGrpSpPr>
          <p:cNvPr name="Group 9" id="9"/>
          <p:cNvGrpSpPr/>
          <p:nvPr/>
        </p:nvGrpSpPr>
        <p:grpSpPr>
          <a:xfrm rot="0">
            <a:off x="-2582136" y="8362283"/>
            <a:ext cx="7059741" cy="3086100"/>
            <a:chOff x="0" y="0"/>
            <a:chExt cx="1859356" cy="812800"/>
          </a:xfrm>
        </p:grpSpPr>
        <p:sp>
          <p:nvSpPr>
            <p:cNvPr name="Freeform 10" id="10"/>
            <p:cNvSpPr/>
            <p:nvPr/>
          </p:nvSpPr>
          <p:spPr>
            <a:xfrm flipH="false" flipV="false" rot="0">
              <a:off x="0" y="0"/>
              <a:ext cx="1859356" cy="812800"/>
            </a:xfrm>
            <a:custGeom>
              <a:avLst/>
              <a:gdLst/>
              <a:ahLst/>
              <a:cxnLst/>
              <a:rect r="r" b="b" t="t" l="l"/>
              <a:pathLst>
                <a:path h="812800" w="1859356">
                  <a:moveTo>
                    <a:pt x="0" y="0"/>
                  </a:moveTo>
                  <a:lnTo>
                    <a:pt x="1859356" y="0"/>
                  </a:lnTo>
                  <a:lnTo>
                    <a:pt x="1859356" y="812800"/>
                  </a:lnTo>
                  <a:lnTo>
                    <a:pt x="0" y="812800"/>
                  </a:lnTo>
                  <a:close/>
                </a:path>
              </a:pathLst>
            </a:custGeom>
            <a:solidFill>
              <a:srgbClr val="EAEBE9"/>
            </a:solidFill>
          </p:spPr>
        </p:sp>
        <p:sp>
          <p:nvSpPr>
            <p:cNvPr name="TextBox 11" id="11"/>
            <p:cNvSpPr txBox="true"/>
            <p:nvPr/>
          </p:nvSpPr>
          <p:spPr>
            <a:xfrm>
              <a:off x="0" y="-47625"/>
              <a:ext cx="1859356" cy="860425"/>
            </a:xfrm>
            <a:prstGeom prst="rect">
              <a:avLst/>
            </a:prstGeom>
          </p:spPr>
          <p:txBody>
            <a:bodyPr anchor="ctr" rtlCol="false" tIns="50800" lIns="50800" bIns="50800" rIns="50800"/>
            <a:lstStyle/>
            <a:p>
              <a:pPr algn="ctr">
                <a:lnSpc>
                  <a:spcPts val="3012"/>
                </a:lnSpc>
              </a:pPr>
            </a:p>
          </p:txBody>
        </p:sp>
      </p:grpSp>
      <p:sp>
        <p:nvSpPr>
          <p:cNvPr name="TextBox 12" id="12"/>
          <p:cNvSpPr txBox="true"/>
          <p:nvPr/>
        </p:nvSpPr>
        <p:spPr>
          <a:xfrm rot="0">
            <a:off x="792370" y="3866966"/>
            <a:ext cx="16425514" cy="3257250"/>
          </a:xfrm>
          <a:prstGeom prst="rect">
            <a:avLst/>
          </a:prstGeom>
        </p:spPr>
        <p:txBody>
          <a:bodyPr anchor="t" rtlCol="false" tIns="0" lIns="0" bIns="0" rIns="0">
            <a:spAutoFit/>
          </a:bodyPr>
          <a:lstStyle/>
          <a:p>
            <a:pPr algn="ctr">
              <a:lnSpc>
                <a:spcPts val="12752"/>
              </a:lnSpc>
            </a:pPr>
            <a:r>
              <a:rPr lang="en-US" sz="11186">
                <a:solidFill>
                  <a:srgbClr val="5F6F52"/>
                </a:solidFill>
                <a:latin typeface="Glacial Indifference"/>
                <a:ea typeface="Glacial Indifference"/>
                <a:cs typeface="Glacial Indifference"/>
                <a:sym typeface="Glacial Indifference"/>
              </a:rPr>
              <a:t>THANK YOU</a:t>
            </a:r>
          </a:p>
          <a:p>
            <a:pPr algn="ctr" marL="0" indent="0" lvl="0">
              <a:lnSpc>
                <a:spcPts val="12752"/>
              </a:lnSpc>
            </a:pPr>
            <a:r>
              <a:rPr lang="en-US" sz="11186">
                <a:solidFill>
                  <a:srgbClr val="5F6F52"/>
                </a:solidFill>
                <a:latin typeface="Glacial Indifference"/>
                <a:ea typeface="Glacial Indifference"/>
                <a:cs typeface="Glacial Indifference"/>
                <a:sym typeface="Glacial Indifference"/>
              </a:rPr>
              <a:t>FOR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DAG2VwtHpxU</dc:identifier>
  <dcterms:modified xsi:type="dcterms:W3CDTF">2011-08-01T06:04:30Z</dcterms:modified>
  <cp:revision>1</cp:revision>
  <dc:title>White and Green Modern Research Proposal Presentation</dc:title>
</cp:coreProperties>
</file>