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Glacial Indifference Bold" charset="1" panose="00000800000000000000"/>
      <p:regular r:id="rId23"/>
    </p:embeddedFont>
    <p:embeddedFont>
      <p:font typeface="Futura" charset="1" panose="020B0502020204020303"/>
      <p:regular r:id="rId24"/>
    </p:embeddedFont>
    <p:embeddedFont>
      <p:font typeface="Futura Italics" charset="1" panose="020B0502020204090303"/>
      <p:regular r:id="rId25"/>
    </p:embeddedFont>
    <p:embeddedFont>
      <p:font typeface="Times New Roman MT Bold" charset="1" panose="02030802070405020303"/>
      <p:regular r:id="rId26"/>
    </p:embeddedFont>
    <p:embeddedFont>
      <p:font typeface="Times New Roman MT" charset="1" panose="02030502070405020303"/>
      <p:regular r:id="rId27"/>
    </p:embeddedFont>
    <p:embeddedFont>
      <p:font typeface="Glacial Indifference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370" y="792370"/>
            <a:ext cx="472661" cy="47266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756206" y="-514350"/>
            <a:ext cx="6163724" cy="3086100"/>
            <a:chOff x="0" y="0"/>
            <a:chExt cx="162336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3368" cy="812800"/>
            </a:xfrm>
            <a:custGeom>
              <a:avLst/>
              <a:gdLst/>
              <a:ahLst/>
              <a:cxnLst/>
              <a:rect r="r" b="b" t="t" l="l"/>
              <a:pathLst>
                <a:path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582136" y="8362283"/>
            <a:ext cx="7059741" cy="3086100"/>
            <a:chOff x="0" y="0"/>
            <a:chExt cx="18593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9356" cy="812800"/>
            </a:xfrm>
            <a:custGeom>
              <a:avLst/>
              <a:gdLst/>
              <a:ahLst/>
              <a:cxnLst/>
              <a:rect r="r" b="b" t="t" l="l"/>
              <a:pathLst>
                <a:path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71519" y="3012727"/>
            <a:ext cx="14744962" cy="153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79"/>
              </a:lnSpc>
            </a:pPr>
            <a:r>
              <a:rPr lang="en-US" b="true" sz="10508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EVENTURE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1519" y="6260447"/>
            <a:ext cx="14744962" cy="65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4"/>
              </a:lnSpc>
            </a:pPr>
            <a:r>
              <a:rPr lang="en-US" sz="3474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EVENT MANAGEMENT SYSTEM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1519" y="668545"/>
            <a:ext cx="4572107" cy="59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 i="true">
                <a:solidFill>
                  <a:srgbClr val="465739"/>
                </a:solidFill>
                <a:latin typeface="Futura Italics"/>
                <a:ea typeface="Futura Italics"/>
                <a:cs typeface="Futura Italics"/>
                <a:sym typeface="Futura Italics"/>
              </a:rPr>
              <a:t>SW 332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79361" y="-2684741"/>
            <a:ext cx="17987306" cy="15656483"/>
            <a:chOff x="0" y="0"/>
            <a:chExt cx="93380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3804" cy="812800"/>
            </a:xfrm>
            <a:custGeom>
              <a:avLst/>
              <a:gdLst/>
              <a:ahLst/>
              <a:cxnLst/>
              <a:rect r="r" b="b" t="t" l="l"/>
              <a:pathLst>
                <a:path h="812800" w="933804">
                  <a:moveTo>
                    <a:pt x="466902" y="0"/>
                  </a:moveTo>
                  <a:cubicBezTo>
                    <a:pt x="209039" y="0"/>
                    <a:pt x="0" y="181951"/>
                    <a:pt x="0" y="406400"/>
                  </a:cubicBezTo>
                  <a:cubicBezTo>
                    <a:pt x="0" y="630849"/>
                    <a:pt x="209039" y="812800"/>
                    <a:pt x="466902" y="812800"/>
                  </a:cubicBezTo>
                  <a:cubicBezTo>
                    <a:pt x="724765" y="812800"/>
                    <a:pt x="933804" y="630849"/>
                    <a:pt x="933804" y="406400"/>
                  </a:cubicBezTo>
                  <a:cubicBezTo>
                    <a:pt x="933804" y="181951"/>
                    <a:pt x="724765" y="0"/>
                    <a:pt x="466902" y="0"/>
                  </a:cubicBez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87544" y="28575"/>
              <a:ext cx="758716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3282955" y="8322576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42162" y="3169880"/>
            <a:ext cx="11113090" cy="261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46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Sprint 1 focused on building the core features of the Eventure system. The team implemented user registration, event creation and management, ticket handling, and QR-based check-in. These functions form the system’s foundation, enabling organizers to manage events efficiently and attendees to register and check in easily.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6285" y="7653113"/>
            <a:ext cx="11604845" cy="1338927"/>
          </a:xfrm>
          <a:custGeom>
            <a:avLst/>
            <a:gdLst/>
            <a:ahLst/>
            <a:cxnLst/>
            <a:rect r="r" b="b" t="t" l="l"/>
            <a:pathLst>
              <a:path h="1338927" w="11604845">
                <a:moveTo>
                  <a:pt x="0" y="0"/>
                </a:moveTo>
                <a:lnTo>
                  <a:pt x="11604845" y="0"/>
                </a:lnTo>
                <a:lnTo>
                  <a:pt x="11604845" y="1338926"/>
                </a:lnTo>
                <a:lnTo>
                  <a:pt x="0" y="1338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57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6500" y="298395"/>
            <a:ext cx="9691523" cy="160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50"/>
              </a:lnSpc>
              <a:spcBef>
                <a:spcPct val="0"/>
              </a:spcBef>
            </a:pPr>
            <a:r>
              <a:rPr lang="en-US" b="true" sz="9321">
                <a:solidFill>
                  <a:srgbClr val="4657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208" y="-514350"/>
            <a:ext cx="17463561" cy="2359140"/>
            <a:chOff x="0" y="0"/>
            <a:chExt cx="4599456" cy="6213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9456" cy="621337"/>
            </a:xfrm>
            <a:custGeom>
              <a:avLst/>
              <a:gdLst/>
              <a:ahLst/>
              <a:cxnLst/>
              <a:rect r="r" b="b" t="t" l="l"/>
              <a:pathLst>
                <a:path h="621337" w="4599456">
                  <a:moveTo>
                    <a:pt x="0" y="0"/>
                  </a:moveTo>
                  <a:lnTo>
                    <a:pt x="4599456" y="0"/>
                  </a:lnTo>
                  <a:lnTo>
                    <a:pt x="4599456" y="621337"/>
                  </a:lnTo>
                  <a:lnTo>
                    <a:pt x="0" y="62133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99456" cy="668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865957" y="-2674011"/>
            <a:ext cx="657694" cy="7336156"/>
            <a:chOff x="0" y="0"/>
            <a:chExt cx="876925" cy="978154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Scrum Team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141570" y="2671401"/>
          <a:ext cx="14004859" cy="6586899"/>
        </p:xfrm>
        <a:graphic>
          <a:graphicData uri="http://schemas.openxmlformats.org/drawingml/2006/table">
            <a:tbl>
              <a:tblPr/>
              <a:tblGrid>
                <a:gridCol w="4509197"/>
                <a:gridCol w="4928898"/>
                <a:gridCol w="4566764"/>
              </a:tblGrid>
              <a:tr h="14489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Responsibilities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Member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Role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87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Define the vision and prioritize backlog items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Jumanah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Product Owner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18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Organize meetings and remove obstacles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Lujain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Scrum Master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74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Develop front-end, back-end, database, and testing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Rand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Munirah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Rana</a:t>
                      </a:r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Development Team</a:t>
                      </a:r>
                      <a:endParaRPr lang="en-US" sz="1100"/>
                    </a:p>
                  </a:txBody>
                  <a:tcPr marL="109970" marR="109970" marT="109970" marB="109970" anchor="ctr">
                    <a:lnL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832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6951421" y="685507"/>
            <a:ext cx="1150151" cy="617120"/>
          </a:xfrm>
          <a:custGeom>
            <a:avLst/>
            <a:gdLst/>
            <a:ahLst/>
            <a:cxnLst/>
            <a:rect r="r" b="b" t="t" l="l"/>
            <a:pathLst>
              <a:path h="617120" w="1150151">
                <a:moveTo>
                  <a:pt x="0" y="0"/>
                </a:moveTo>
                <a:lnTo>
                  <a:pt x="1150151" y="0"/>
                </a:lnTo>
                <a:lnTo>
                  <a:pt x="1150151" y="617120"/>
                </a:lnTo>
                <a:lnTo>
                  <a:pt x="0" y="617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731486" y="-2924343"/>
            <a:ext cx="657694" cy="7336156"/>
            <a:chOff x="0" y="0"/>
            <a:chExt cx="876925" cy="978154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Product backlog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49434" y="2499042"/>
            <a:ext cx="16309866" cy="5810390"/>
          </a:xfrm>
          <a:custGeom>
            <a:avLst/>
            <a:gdLst/>
            <a:ahLst/>
            <a:cxnLst/>
            <a:rect r="r" b="b" t="t" l="l"/>
            <a:pathLst>
              <a:path h="5810390" w="16309866">
                <a:moveTo>
                  <a:pt x="0" y="0"/>
                </a:moveTo>
                <a:lnTo>
                  <a:pt x="16309866" y="0"/>
                </a:lnTo>
                <a:lnTo>
                  <a:pt x="16309866" y="5810389"/>
                </a:lnTo>
                <a:lnTo>
                  <a:pt x="0" y="5810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208" y="-514350"/>
            <a:ext cx="17463561" cy="2359140"/>
            <a:chOff x="0" y="0"/>
            <a:chExt cx="4599456" cy="6213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9456" cy="621337"/>
            </a:xfrm>
            <a:custGeom>
              <a:avLst/>
              <a:gdLst/>
              <a:ahLst/>
              <a:cxnLst/>
              <a:rect r="r" b="b" t="t" l="l"/>
              <a:pathLst>
                <a:path h="621337" w="4599456">
                  <a:moveTo>
                    <a:pt x="0" y="0"/>
                  </a:moveTo>
                  <a:lnTo>
                    <a:pt x="4599456" y="0"/>
                  </a:lnTo>
                  <a:lnTo>
                    <a:pt x="4599456" y="621337"/>
                  </a:lnTo>
                  <a:lnTo>
                    <a:pt x="0" y="62133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99456" cy="668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865957" y="-2674011"/>
            <a:ext cx="657694" cy="7336156"/>
            <a:chOff x="0" y="0"/>
            <a:chExt cx="876925" cy="978154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Sprint Backlog 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225406" y="665220"/>
            <a:ext cx="569562" cy="649916"/>
          </a:xfrm>
          <a:custGeom>
            <a:avLst/>
            <a:gdLst/>
            <a:ahLst/>
            <a:cxnLst/>
            <a:rect r="r" b="b" t="t" l="l"/>
            <a:pathLst>
              <a:path h="649916" w="569562">
                <a:moveTo>
                  <a:pt x="0" y="0"/>
                </a:moveTo>
                <a:lnTo>
                  <a:pt x="569563" y="0"/>
                </a:lnTo>
                <a:lnTo>
                  <a:pt x="569563" y="649916"/>
                </a:lnTo>
                <a:lnTo>
                  <a:pt x="0" y="649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2531583"/>
            <a:ext cx="15614745" cy="6128788"/>
          </a:xfrm>
          <a:custGeom>
            <a:avLst/>
            <a:gdLst/>
            <a:ahLst/>
            <a:cxnLst/>
            <a:rect r="r" b="b" t="t" l="l"/>
            <a:pathLst>
              <a:path h="6128788" w="15614745">
                <a:moveTo>
                  <a:pt x="0" y="0"/>
                </a:moveTo>
                <a:lnTo>
                  <a:pt x="15614745" y="0"/>
                </a:lnTo>
                <a:lnTo>
                  <a:pt x="15614745" y="6128788"/>
                </a:lnTo>
                <a:lnTo>
                  <a:pt x="0" y="6128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2107" y="2906900"/>
            <a:ext cx="19185407" cy="2270513"/>
            <a:chOff x="0" y="0"/>
            <a:chExt cx="5052947" cy="597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2947" cy="597995"/>
            </a:xfrm>
            <a:custGeom>
              <a:avLst/>
              <a:gdLst/>
              <a:ahLst/>
              <a:cxnLst/>
              <a:rect r="r" b="b" t="t" l="l"/>
              <a:pathLst>
                <a:path h="597995" w="5052947">
                  <a:moveTo>
                    <a:pt x="0" y="0"/>
                  </a:moveTo>
                  <a:lnTo>
                    <a:pt x="5052947" y="0"/>
                  </a:lnTo>
                  <a:lnTo>
                    <a:pt x="5052947" y="597995"/>
                  </a:lnTo>
                  <a:lnTo>
                    <a:pt x="0" y="59799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052947" cy="64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02107" y="8369294"/>
            <a:ext cx="2389151" cy="2402255"/>
          </a:xfrm>
          <a:custGeom>
            <a:avLst/>
            <a:gdLst/>
            <a:ahLst/>
            <a:cxnLst/>
            <a:rect r="r" b="b" t="t" l="l"/>
            <a:pathLst>
              <a:path h="2402255" w="2389151">
                <a:moveTo>
                  <a:pt x="0" y="0"/>
                </a:moveTo>
                <a:lnTo>
                  <a:pt x="2389151" y="0"/>
                </a:lnTo>
                <a:lnTo>
                  <a:pt x="2389151" y="2402254"/>
                </a:lnTo>
                <a:lnTo>
                  <a:pt x="0" y="240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2468" y="3266411"/>
            <a:ext cx="16043318" cy="267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216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1.</a:t>
            </a:r>
            <a:r>
              <a:rPr lang="en-US" sz="216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Sprint Goal</a:t>
            </a:r>
          </a:p>
          <a:p>
            <a:pPr algn="l">
              <a:lnSpc>
                <a:spcPts val="3033"/>
              </a:lnSpc>
            </a:pPr>
            <a:r>
              <a:rPr lang="en-US" sz="216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Deliver the core functionalities of the Eventure system by implementing event creation, user registration, ticket management, and QR-based check-in.</a:t>
            </a:r>
          </a:p>
          <a:p>
            <a:pPr algn="l">
              <a:lnSpc>
                <a:spcPts val="3033"/>
              </a:lnSpc>
            </a:pPr>
          </a:p>
          <a:p>
            <a:pPr algn="l">
              <a:lnSpc>
                <a:spcPts val="3033"/>
              </a:lnSpc>
            </a:pPr>
          </a:p>
          <a:p>
            <a:pPr algn="l">
              <a:lnSpc>
                <a:spcPts val="3033"/>
              </a:lnSpc>
            </a:pPr>
          </a:p>
          <a:p>
            <a:pPr algn="l">
              <a:lnSpc>
                <a:spcPts val="303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8767" y="2092240"/>
            <a:ext cx="17909233" cy="600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• Title: User Registration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Description: As a user, I want to register using my email or phone number so that I can access the system.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Acceptance Criteria: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Users can sign up using email or phone.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Validation ensures unique email/phone per account.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Successful registration redirects users to the dashboard.</a:t>
            </a:r>
          </a:p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• Title: Event Creation and Management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Description: As an organizer, I want to create, edit, and delete events so that I can manage upcoming events easily.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Acceptance Criteria: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Organizers can add new events with all details (name, date, location, capacity).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Organizers can edit or delete their events.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- System validates that required fields are filled before </a:t>
            </a:r>
          </a:p>
          <a:p>
            <a:pPr algn="l">
              <a:lnSpc>
                <a:spcPts val="300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356600" y="-3362206"/>
            <a:ext cx="1113790" cy="8298874"/>
            <a:chOff x="0" y="0"/>
            <a:chExt cx="1485053" cy="1106516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516188" y="0"/>
              <a:ext cx="968865" cy="96886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876775" y="5569986"/>
              <a:ext cx="9371954" cy="1618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Selected Product Backlog Items (with Acceptance Criteria)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7940" y="2278696"/>
            <a:ext cx="17909233" cy="600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• Title: Ticket Management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Description: As an organizer, I want to define ticket types and capacities so that attendees can choose suitable tickets.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Acceptance Criteria: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Organizers can create multiple ticket types (VIP, Regular, Free).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Ticket limits are enforced according to event capacity.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System updates available tickets dynamically when attendees register.</a:t>
            </a:r>
          </a:p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• Title: QR Code Check-in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Description: As an attendee, I want to receive a QR code for my ticket so that I can check in quickly at the event.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Acceptance Criteria: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System generates a unique QR code for each registration.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The QR code contains ticket ID and user info.</a:t>
            </a:r>
          </a:p>
          <a:p>
            <a:pPr algn="l">
              <a:lnSpc>
                <a:spcPts val="3007"/>
              </a:lnSpc>
            </a:pPr>
            <a:r>
              <a:rPr lang="en-US" sz="2148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 - Event staff can scan the QR code to mark attendance.</a:t>
            </a:r>
          </a:p>
          <a:p>
            <a:pPr algn="l">
              <a:lnSpc>
                <a:spcPts val="3007"/>
              </a:lnSpc>
            </a:pPr>
          </a:p>
          <a:p>
            <a:pPr algn="l">
              <a:lnSpc>
                <a:spcPts val="3007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356600" y="-3362206"/>
            <a:ext cx="1113790" cy="8298874"/>
            <a:chOff x="0" y="0"/>
            <a:chExt cx="1485053" cy="1106516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516188" y="0"/>
              <a:ext cx="968865" cy="96886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876775" y="5569986"/>
              <a:ext cx="9371954" cy="1618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Selected Product Backlog Items (with Acceptance Criteria)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711878"/>
            <a:ext cx="18931724" cy="516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User Story 2 – Original (L)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Original: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As an organizer, I want to create, edit, and delete events so that I can manage upcoming events easily.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(Size: L)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Revised (split into smaller stories):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to create a new event so that I can add it to the system.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to edit existing event details so that I can update event information.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to delete an event so that I can remove canceled or outdated events.</a:t>
            </a:r>
          </a:p>
          <a:p>
            <a:pPr algn="l">
              <a:lnSpc>
                <a:spcPts val="317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400152" y="-3405758"/>
            <a:ext cx="726649" cy="7998836"/>
            <a:chOff x="0" y="0"/>
            <a:chExt cx="968865" cy="1066511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68865" cy="96886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992914" y="5569986"/>
              <a:ext cx="9371954" cy="818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Refine Sizing (Applying INVEST)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711878"/>
            <a:ext cx="18931724" cy="555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User Story 3 – Original (L)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Original: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As an organizer, I want to define ticket types and capacities so that attendees can choose suitable tickets.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(Size: L)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Revised (split into smaller stories):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to create multiple ticket types (VIP, Regular, Free) so that I can offer flexible options.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to set ticket capacity limits so that event attendance stays within venue capacity.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(S) As an organizer, I want the system to automatically update available tickets when registrations occur.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400152" y="-3405758"/>
            <a:ext cx="726649" cy="7998836"/>
            <a:chOff x="0" y="0"/>
            <a:chExt cx="968865" cy="1066511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68865" cy="96886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992914" y="5569986"/>
              <a:ext cx="9371954" cy="818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Refine Sizing (Applying INVEST)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400152" y="-3405758"/>
            <a:ext cx="726649" cy="7998836"/>
            <a:chOff x="0" y="0"/>
            <a:chExt cx="968865" cy="1066511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68865" cy="96886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992914" y="5569986"/>
              <a:ext cx="9371954" cy="818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Daily scrum meeting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542229" y="3726782"/>
            <a:ext cx="6818573" cy="2585992"/>
          </a:xfrm>
          <a:custGeom>
            <a:avLst/>
            <a:gdLst/>
            <a:ahLst/>
            <a:cxnLst/>
            <a:rect r="r" b="b" t="t" l="l"/>
            <a:pathLst>
              <a:path h="2585992" w="6818573">
                <a:moveTo>
                  <a:pt x="0" y="0"/>
                </a:moveTo>
                <a:lnTo>
                  <a:pt x="6818573" y="0"/>
                </a:lnTo>
                <a:lnTo>
                  <a:pt x="6818573" y="2585992"/>
                </a:lnTo>
                <a:lnTo>
                  <a:pt x="0" y="2585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235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5276" y="3726782"/>
            <a:ext cx="11557505" cy="2585992"/>
          </a:xfrm>
          <a:custGeom>
            <a:avLst/>
            <a:gdLst/>
            <a:ahLst/>
            <a:cxnLst/>
            <a:rect r="r" b="b" t="t" l="l"/>
            <a:pathLst>
              <a:path h="2585992" w="11557505">
                <a:moveTo>
                  <a:pt x="0" y="0"/>
                </a:moveTo>
                <a:lnTo>
                  <a:pt x="11557505" y="0"/>
                </a:lnTo>
                <a:lnTo>
                  <a:pt x="11557505" y="2585992"/>
                </a:lnTo>
                <a:lnTo>
                  <a:pt x="0" y="2585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400152" y="-3405758"/>
            <a:ext cx="726649" cy="7998836"/>
            <a:chOff x="0" y="0"/>
            <a:chExt cx="968865" cy="1066511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68865" cy="96886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992914" y="5569986"/>
              <a:ext cx="9371954" cy="818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59"/>
                </a:lnSpc>
                <a:spcBef>
                  <a:spcPct val="0"/>
                </a:spcBef>
              </a:pPr>
              <a:r>
                <a:rPr lang="en-US" sz="3399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Daily scrum meeting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827983" y="1777889"/>
            <a:ext cx="8658786" cy="8225847"/>
          </a:xfrm>
          <a:custGeom>
            <a:avLst/>
            <a:gdLst/>
            <a:ahLst/>
            <a:cxnLst/>
            <a:rect r="r" b="b" t="t" l="l"/>
            <a:pathLst>
              <a:path h="8225847" w="8658786">
                <a:moveTo>
                  <a:pt x="0" y="0"/>
                </a:moveTo>
                <a:lnTo>
                  <a:pt x="8658787" y="0"/>
                </a:lnTo>
                <a:lnTo>
                  <a:pt x="8658787" y="8225847"/>
                </a:lnTo>
                <a:lnTo>
                  <a:pt x="0" y="822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208" y="-514350"/>
            <a:ext cx="17463561" cy="2359140"/>
            <a:chOff x="0" y="0"/>
            <a:chExt cx="4599456" cy="6213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9456" cy="621337"/>
            </a:xfrm>
            <a:custGeom>
              <a:avLst/>
              <a:gdLst/>
              <a:ahLst/>
              <a:cxnLst/>
              <a:rect r="r" b="b" t="t" l="l"/>
              <a:pathLst>
                <a:path h="621337" w="4599456">
                  <a:moveTo>
                    <a:pt x="0" y="0"/>
                  </a:moveTo>
                  <a:lnTo>
                    <a:pt x="4599456" y="0"/>
                  </a:lnTo>
                  <a:lnTo>
                    <a:pt x="4599456" y="621337"/>
                  </a:lnTo>
                  <a:lnTo>
                    <a:pt x="0" y="62133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99456" cy="668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55159" y="2309775"/>
            <a:ext cx="16004141" cy="6881781"/>
          </a:xfrm>
          <a:custGeom>
            <a:avLst/>
            <a:gdLst/>
            <a:ahLst/>
            <a:cxnLst/>
            <a:rect r="r" b="b" t="t" l="l"/>
            <a:pathLst>
              <a:path h="6881781" w="16004141">
                <a:moveTo>
                  <a:pt x="0" y="0"/>
                </a:moveTo>
                <a:lnTo>
                  <a:pt x="16004141" y="0"/>
                </a:lnTo>
                <a:lnTo>
                  <a:pt x="16004141" y="6881781"/>
                </a:lnTo>
                <a:lnTo>
                  <a:pt x="0" y="6881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5865957" y="-2674011"/>
            <a:ext cx="657694" cy="7336156"/>
            <a:chOff x="0" y="0"/>
            <a:chExt cx="876925" cy="978154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BurnDown Chart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208" y="-514350"/>
            <a:ext cx="17463561" cy="2359140"/>
            <a:chOff x="0" y="0"/>
            <a:chExt cx="4599456" cy="6213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9456" cy="621337"/>
            </a:xfrm>
            <a:custGeom>
              <a:avLst/>
              <a:gdLst/>
              <a:ahLst/>
              <a:cxnLst/>
              <a:rect r="r" b="b" t="t" l="l"/>
              <a:pathLst>
                <a:path h="621337" w="4599456">
                  <a:moveTo>
                    <a:pt x="0" y="0"/>
                  </a:moveTo>
                  <a:lnTo>
                    <a:pt x="4599456" y="0"/>
                  </a:lnTo>
                  <a:lnTo>
                    <a:pt x="4599456" y="621337"/>
                  </a:lnTo>
                  <a:lnTo>
                    <a:pt x="0" y="621337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99456" cy="668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5865957" y="-2674011"/>
            <a:ext cx="657694" cy="7336156"/>
            <a:chOff x="0" y="0"/>
            <a:chExt cx="876925" cy="978154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Sprint Retrospective 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51340" y="-362522"/>
            <a:ext cx="14599473" cy="11424088"/>
          </a:xfrm>
          <a:custGeom>
            <a:avLst/>
            <a:gdLst/>
            <a:ahLst/>
            <a:cxnLst/>
            <a:rect r="r" b="b" t="t" l="l"/>
            <a:pathLst>
              <a:path h="11424088" w="14599473">
                <a:moveTo>
                  <a:pt x="0" y="0"/>
                </a:moveTo>
                <a:lnTo>
                  <a:pt x="14599473" y="0"/>
                </a:lnTo>
                <a:lnTo>
                  <a:pt x="14599473" y="11424088"/>
                </a:lnTo>
                <a:lnTo>
                  <a:pt x="0" y="11424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17277" y="2447826"/>
            <a:ext cx="13723249" cy="375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</a:pP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Code is reviewed and passes all unit tests.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All acceptance criteria are met and verified by Product Owner.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Documentation and user guides updated.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Feature deployed successfully to test environment.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• No critical bugs remain unresolved</a:t>
            </a:r>
          </a:p>
          <a:p>
            <a:pPr algn="l">
              <a:lnSpc>
                <a:spcPts val="426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597015" y="-2968225"/>
            <a:ext cx="657694" cy="7336156"/>
            <a:chOff x="0" y="0"/>
            <a:chExt cx="876925" cy="978154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Definition of Done (DoD)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-514350"/>
            <a:ext cx="17773650" cy="1858476"/>
            <a:chOff x="0" y="0"/>
            <a:chExt cx="4681126" cy="489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6" cy="489475"/>
            </a:xfrm>
            <a:custGeom>
              <a:avLst/>
              <a:gdLst/>
              <a:ahLst/>
              <a:cxnLst/>
              <a:rect r="r" b="b" t="t" l="l"/>
              <a:pathLst>
                <a:path h="489475" w="4681126">
                  <a:moveTo>
                    <a:pt x="0" y="0"/>
                  </a:moveTo>
                  <a:lnTo>
                    <a:pt x="4681126" y="0"/>
                  </a:lnTo>
                  <a:lnTo>
                    <a:pt x="4681126" y="489475"/>
                  </a:lnTo>
                  <a:lnTo>
                    <a:pt x="0" y="489475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1126" cy="53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055107"/>
            <a:ext cx="16370723" cy="322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7"/>
              </a:lnSpc>
            </a:pPr>
            <a:r>
              <a:rPr lang="en-US" sz="3633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Sprint 1 was successful in meeting its objectives and delivering a functional version of the Eventure system. The team demonstrated strong collaboration, adherence to Scrum principles, and effective communication throughout the sprint. The foundation is now set for Sprint 2 to build upon this success and expand the platform’s capabilities.</a:t>
            </a: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5865957" y="-2674011"/>
            <a:ext cx="657694" cy="7336156"/>
            <a:chOff x="0" y="0"/>
            <a:chExt cx="876925" cy="978154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76925" cy="87692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BC8B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12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5400000">
              <a:off x="-3717117" y="5016049"/>
              <a:ext cx="8482609" cy="1048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19"/>
                </a:lnSpc>
                <a:spcBef>
                  <a:spcPct val="0"/>
                </a:spcBef>
              </a:pPr>
              <a:r>
                <a:rPr lang="en-US" sz="4371" i="true">
                  <a:solidFill>
                    <a:srgbClr val="465739"/>
                  </a:solidFill>
                  <a:latin typeface="Futura Italics"/>
                  <a:ea typeface="Futura Italics"/>
                  <a:cs typeface="Futura Italics"/>
                  <a:sym typeface="Futura Italics"/>
                </a:rPr>
                <a:t>Summary 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370" y="792370"/>
            <a:ext cx="472661" cy="47266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cap="flat" w="123825">
            <a:solidFill>
              <a:srgbClr val="BBC8B1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756206" y="-514350"/>
            <a:ext cx="6163724" cy="3086100"/>
            <a:chOff x="0" y="0"/>
            <a:chExt cx="1623368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3368" cy="812800"/>
            </a:xfrm>
            <a:custGeom>
              <a:avLst/>
              <a:gdLst/>
              <a:ahLst/>
              <a:cxnLst/>
              <a:rect r="r" b="b" t="t" l="l"/>
              <a:pathLst>
                <a:path h="812800" w="1623368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582136" y="8362283"/>
            <a:ext cx="7059741" cy="3086100"/>
            <a:chOff x="0" y="0"/>
            <a:chExt cx="18593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59356" cy="812800"/>
            </a:xfrm>
            <a:custGeom>
              <a:avLst/>
              <a:gdLst/>
              <a:ahLst/>
              <a:cxnLst/>
              <a:rect r="r" b="b" t="t" l="l"/>
              <a:pathLst>
                <a:path h="812800" w="1859356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92370" y="3866966"/>
            <a:ext cx="16425514" cy="32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2"/>
              </a:lnSpc>
            </a:pPr>
            <a:r>
              <a:rPr lang="en-US" sz="11186">
                <a:solidFill>
                  <a:srgbClr val="5F6F5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THANK YOU</a:t>
            </a:r>
          </a:p>
          <a:p>
            <a:pPr algn="ctr" marL="0" indent="0" lvl="0">
              <a:lnSpc>
                <a:spcPts val="12752"/>
              </a:lnSpc>
            </a:pPr>
            <a:r>
              <a:rPr lang="en-US" sz="11186">
                <a:solidFill>
                  <a:srgbClr val="5F6F5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DAG3uuRLx2I</dc:identifier>
  <dcterms:modified xsi:type="dcterms:W3CDTF">2011-08-01T06:04:30Z</dcterms:modified>
  <cp:revision>1</cp:revision>
  <dc:title>نسخة من White and Green Modern Research Proposal Presentation</dc:title>
</cp:coreProperties>
</file>