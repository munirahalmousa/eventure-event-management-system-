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</p:sldIdLst>
  <p:sldSz cx="18288000" cy="10287000"/>
  <p:notesSz cx="6858000" cy="9144000"/>
  <p:embeddedFontLst>
    <p:embeddedFont>
      <p:font typeface="Glacial Indifference Bold" charset="1" panose="00000800000000000000"/>
      <p:regular r:id="rId24"/>
    </p:embeddedFont>
    <p:embeddedFont>
      <p:font typeface="Futura" charset="1" panose="020B0502020204020303"/>
      <p:regular r:id="rId25"/>
    </p:embeddedFont>
    <p:embeddedFont>
      <p:font typeface="Futura Italics" charset="1" panose="020B0502020204090303"/>
      <p:regular r:id="rId26"/>
    </p:embeddedFont>
    <p:embeddedFont>
      <p:font typeface="Times New Roman MT Bold" charset="1" panose="02030802070405020303"/>
      <p:regular r:id="rId27"/>
    </p:embeddedFont>
    <p:embeddedFont>
      <p:font typeface="Times New Roman MT" charset="1" panose="02030502070405020303"/>
      <p:regular r:id="rId28"/>
    </p:embeddedFont>
    <p:embeddedFont>
      <p:font typeface="Arimo" charset="1" panose="020B0604020202020204"/>
      <p:regular r:id="rId29"/>
    </p:embeddedFont>
    <p:embeddedFont>
      <p:font typeface="Glacial Indifference" charset="1" panose="00000000000000000000"/>
      <p:regular r:id="rId3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fonts/font24.fntdata" Type="http://schemas.openxmlformats.org/officeDocument/2006/relationships/font"/><Relationship Id="rId25" Target="fonts/font25.fntdata" Type="http://schemas.openxmlformats.org/officeDocument/2006/relationships/font"/><Relationship Id="rId26" Target="fonts/font26.fntdata" Type="http://schemas.openxmlformats.org/officeDocument/2006/relationships/font"/><Relationship Id="rId27" Target="fonts/font27.fntdata" Type="http://schemas.openxmlformats.org/officeDocument/2006/relationships/font"/><Relationship Id="rId28" Target="fonts/font28.fntdata" Type="http://schemas.openxmlformats.org/officeDocument/2006/relationships/font"/><Relationship Id="rId29" Target="fonts/font29.fntdata" Type="http://schemas.openxmlformats.org/officeDocument/2006/relationships/font"/><Relationship Id="rId3" Target="viewProps.xml" Type="http://schemas.openxmlformats.org/officeDocument/2006/relationships/viewProps"/><Relationship Id="rId30" Target="fonts/font30.fntdata" Type="http://schemas.openxmlformats.org/officeDocument/2006/relationships/font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jpe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svg" Type="http://schemas.openxmlformats.org/officeDocument/2006/relationships/image"/><Relationship Id="rId4" Target="../media/image7.jpe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Relationship Id="rId3" Target="../media/image9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jpeg" Type="http://schemas.openxmlformats.org/officeDocument/2006/relationships/image"/><Relationship Id="rId3" Target="../media/image11.jpe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2.jpe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3.jpe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4.jpe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792370" y="792370"/>
            <a:ext cx="472661" cy="472661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BBC8B1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12"/>
                </a:lnSpc>
              </a:pPr>
            </a:p>
          </p:txBody>
        </p:sp>
      </p:grpSp>
      <p:sp>
        <p:nvSpPr>
          <p:cNvPr name="AutoShape 5" id="5"/>
          <p:cNvSpPr/>
          <p:nvPr/>
        </p:nvSpPr>
        <p:spPr>
          <a:xfrm>
            <a:off x="17364075" y="6915141"/>
            <a:ext cx="0" cy="2610617"/>
          </a:xfrm>
          <a:prstGeom prst="line">
            <a:avLst/>
          </a:prstGeom>
          <a:ln cap="flat" w="123825">
            <a:solidFill>
              <a:srgbClr val="BBC8B1"/>
            </a:solidFill>
            <a:prstDash val="sysDot"/>
            <a:headEnd type="none" len="sm" w="sm"/>
            <a:tailEnd type="none" len="sm" w="sm"/>
          </a:ln>
        </p:spPr>
      </p:sp>
      <p:grpSp>
        <p:nvGrpSpPr>
          <p:cNvPr name="Group 6" id="6"/>
          <p:cNvGrpSpPr/>
          <p:nvPr/>
        </p:nvGrpSpPr>
        <p:grpSpPr>
          <a:xfrm rot="0">
            <a:off x="13756206" y="-514350"/>
            <a:ext cx="6163724" cy="3086100"/>
            <a:chOff x="0" y="0"/>
            <a:chExt cx="1623368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623368" cy="812800"/>
            </a:xfrm>
            <a:custGeom>
              <a:avLst/>
              <a:gdLst/>
              <a:ahLst/>
              <a:cxnLst/>
              <a:rect r="r" b="b" t="t" l="l"/>
              <a:pathLst>
                <a:path h="812800" w="1623368">
                  <a:moveTo>
                    <a:pt x="0" y="0"/>
                  </a:moveTo>
                  <a:lnTo>
                    <a:pt x="1623368" y="0"/>
                  </a:lnTo>
                  <a:lnTo>
                    <a:pt x="1623368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EAEBE9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47625"/>
              <a:ext cx="1623368" cy="8604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12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-2582136" y="8362283"/>
            <a:ext cx="7059741" cy="3086100"/>
            <a:chOff x="0" y="0"/>
            <a:chExt cx="1859356" cy="8128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859356" cy="812800"/>
            </a:xfrm>
            <a:custGeom>
              <a:avLst/>
              <a:gdLst/>
              <a:ahLst/>
              <a:cxnLst/>
              <a:rect r="r" b="b" t="t" l="l"/>
              <a:pathLst>
                <a:path h="812800" w="1859356">
                  <a:moveTo>
                    <a:pt x="0" y="0"/>
                  </a:moveTo>
                  <a:lnTo>
                    <a:pt x="1859356" y="0"/>
                  </a:lnTo>
                  <a:lnTo>
                    <a:pt x="1859356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EAEBE9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47625"/>
              <a:ext cx="1859356" cy="8604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12"/>
                </a:lnSpc>
              </a:pPr>
            </a:p>
          </p:txBody>
        </p:sp>
      </p:grpSp>
      <p:sp>
        <p:nvSpPr>
          <p:cNvPr name="TextBox 12" id="12"/>
          <p:cNvSpPr txBox="true"/>
          <p:nvPr/>
        </p:nvSpPr>
        <p:spPr>
          <a:xfrm rot="0">
            <a:off x="1771519" y="3012727"/>
            <a:ext cx="14744962" cy="15373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1979"/>
              </a:lnSpc>
            </a:pPr>
            <a:r>
              <a:rPr lang="en-US" b="true" sz="10508">
                <a:solidFill>
                  <a:srgbClr val="5F6F52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EVENTURE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771519" y="6260447"/>
            <a:ext cx="14744962" cy="6546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864"/>
              </a:lnSpc>
            </a:pPr>
            <a:r>
              <a:rPr lang="en-US" sz="3474">
                <a:solidFill>
                  <a:srgbClr val="000000"/>
                </a:solidFill>
                <a:latin typeface="Futura"/>
                <a:ea typeface="Futura"/>
                <a:cs typeface="Futura"/>
                <a:sym typeface="Futura"/>
              </a:rPr>
              <a:t>EVENT MANAGEMENT SYSTEM 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771519" y="668545"/>
            <a:ext cx="4572107" cy="5964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397"/>
              </a:lnSpc>
              <a:spcBef>
                <a:spcPct val="0"/>
              </a:spcBef>
            </a:pPr>
            <a:r>
              <a:rPr lang="en-US" sz="3141" i="true">
                <a:solidFill>
                  <a:srgbClr val="465739"/>
                </a:solidFill>
                <a:latin typeface="Futura Italics"/>
                <a:ea typeface="Futura Italics"/>
                <a:cs typeface="Futura Italics"/>
                <a:sym typeface="Futura Italics"/>
              </a:rPr>
              <a:t>SW 332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4683811" y="8576835"/>
            <a:ext cx="6611718" cy="12295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677"/>
              </a:lnSpc>
            </a:pPr>
            <a:r>
              <a:rPr lang="en-US" sz="3341">
                <a:solidFill>
                  <a:srgbClr val="465739"/>
                </a:solidFill>
                <a:latin typeface="Futura"/>
                <a:ea typeface="Futura"/>
                <a:cs typeface="Futura"/>
                <a:sym typeface="Futura"/>
              </a:rPr>
              <a:t>Prepared for :</a:t>
            </a:r>
          </a:p>
          <a:p>
            <a:pPr algn="r" marL="0" indent="0" lvl="0">
              <a:lnSpc>
                <a:spcPts val="4677"/>
              </a:lnSpc>
              <a:spcBef>
                <a:spcPct val="0"/>
              </a:spcBef>
            </a:pPr>
            <a:r>
              <a:rPr lang="en-US" sz="3341">
                <a:solidFill>
                  <a:srgbClr val="465739"/>
                </a:solidFill>
                <a:latin typeface="Futura"/>
                <a:ea typeface="Futura"/>
                <a:cs typeface="Futura"/>
                <a:sym typeface="Futura"/>
              </a:rPr>
              <a:t>   </a:t>
            </a:r>
            <a:r>
              <a:rPr lang="en-US" sz="3341">
                <a:solidFill>
                  <a:srgbClr val="465739"/>
                </a:solidFill>
                <a:latin typeface="Futura"/>
                <a:ea typeface="Futura"/>
                <a:cs typeface="Futura"/>
                <a:sym typeface="Futura"/>
              </a:rPr>
              <a:t>  Ms. Daniah Alshobaili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17364075" y="6915141"/>
            <a:ext cx="0" cy="2610617"/>
          </a:xfrm>
          <a:prstGeom prst="line">
            <a:avLst/>
          </a:prstGeom>
          <a:ln cap="flat" w="123825">
            <a:solidFill>
              <a:srgbClr val="BBC8B1"/>
            </a:solidFill>
            <a:prstDash val="sysDot"/>
            <a:headEnd type="none" len="sm" w="sm"/>
            <a:tailEnd type="none" len="sm" w="sm"/>
          </a:ln>
        </p:spPr>
      </p:sp>
      <p:grpSp>
        <p:nvGrpSpPr>
          <p:cNvPr name="Group 3" id="3"/>
          <p:cNvGrpSpPr/>
          <p:nvPr/>
        </p:nvGrpSpPr>
        <p:grpSpPr>
          <a:xfrm rot="0">
            <a:off x="-2582136" y="8362283"/>
            <a:ext cx="20600469" cy="3086100"/>
            <a:chOff x="0" y="0"/>
            <a:chExt cx="5425638" cy="8128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425638" cy="812800"/>
            </a:xfrm>
            <a:custGeom>
              <a:avLst/>
              <a:gdLst/>
              <a:ahLst/>
              <a:cxnLst/>
              <a:rect r="r" b="b" t="t" l="l"/>
              <a:pathLst>
                <a:path h="812800" w="5425638">
                  <a:moveTo>
                    <a:pt x="0" y="0"/>
                  </a:moveTo>
                  <a:lnTo>
                    <a:pt x="5425638" y="0"/>
                  </a:lnTo>
                  <a:lnTo>
                    <a:pt x="5425638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EAEBE9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47625"/>
              <a:ext cx="5425638" cy="8604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12"/>
                </a:lnSpc>
              </a:pPr>
            </a:p>
          </p:txBody>
        </p:sp>
      </p:grpSp>
      <p:graphicFrame>
        <p:nvGraphicFramePr>
          <p:cNvPr name="Table 6" id="6"/>
          <p:cNvGraphicFramePr>
            <a:graphicFrameLocks noGrp="true"/>
          </p:cNvGraphicFramePr>
          <p:nvPr/>
        </p:nvGraphicFramePr>
        <p:xfrm>
          <a:off x="3834216" y="2328768"/>
          <a:ext cx="10619568" cy="5853067"/>
        </p:xfrm>
        <a:graphic>
          <a:graphicData uri="http://schemas.openxmlformats.org/drawingml/2006/table">
            <a:tbl>
              <a:tblPr/>
              <a:tblGrid>
                <a:gridCol w="5530793"/>
                <a:gridCol w="5088775"/>
              </a:tblGrid>
              <a:tr h="89973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4266"/>
                        </a:lnSpc>
                        <a:defRPr/>
                      </a:pPr>
                      <a:r>
                        <a:rPr lang="en-US" sz="3047" b="true">
                          <a:solidFill>
                            <a:srgbClr val="000000"/>
                          </a:solidFill>
                          <a:latin typeface="Times New Roman MT Bold"/>
                          <a:ea typeface="Times New Roman MT Bold"/>
                          <a:cs typeface="Times New Roman MT Bold"/>
                          <a:sym typeface="Times New Roman MT Bold"/>
                        </a:rPr>
                        <a:t>Student Name</a:t>
                      </a:r>
                      <a:endParaRPr lang="en-US" sz="1100"/>
                    </a:p>
                  </a:txBody>
                  <a:tcPr marL="104371" marR="104371" marT="104371" marB="104371" anchor="ctr">
                    <a:lnL cmpd="sng" algn="ctr" cap="flat" w="1739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739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739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739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4270"/>
                        </a:lnSpc>
                        <a:defRPr/>
                      </a:pPr>
                      <a:r>
                        <a:rPr lang="en-US" sz="3050" b="true">
                          <a:solidFill>
                            <a:srgbClr val="000000"/>
                          </a:solidFill>
                          <a:latin typeface="Times New Roman MT Bold"/>
                          <a:ea typeface="Times New Roman MT Bold"/>
                          <a:cs typeface="Times New Roman MT Bold"/>
                          <a:sym typeface="Times New Roman MT Bold"/>
                        </a:rPr>
                        <a:t>ID</a:t>
                      </a:r>
                      <a:endParaRPr lang="en-US" sz="1100"/>
                    </a:p>
                  </a:txBody>
                  <a:tcPr marL="104371" marR="104371" marT="104371" marB="104371" anchor="ctr">
                    <a:lnL cmpd="sng" algn="ctr" cap="flat" w="1739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739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739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739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033093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724"/>
                        </a:lnSpc>
                        <a:defRPr/>
                      </a:pPr>
                      <a:r>
                        <a:rPr lang="en-US" sz="2660">
                          <a:solidFill>
                            <a:srgbClr val="000000"/>
                          </a:solidFill>
                          <a:latin typeface="Times New Roman MT"/>
                          <a:ea typeface="Times New Roman MT"/>
                          <a:cs typeface="Times New Roman MT"/>
                          <a:sym typeface="Times New Roman MT"/>
                        </a:rPr>
                        <a:t>Rana zaid Al askar</a:t>
                      </a:r>
                      <a:endParaRPr lang="en-US" sz="1100"/>
                    </a:p>
                  </a:txBody>
                  <a:tcPr marL="104371" marR="104371" marT="104371" marB="104371" anchor="ctr">
                    <a:lnL cmpd="sng" algn="ctr" cap="flat" w="1739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739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739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739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724"/>
                        </a:lnSpc>
                        <a:defRPr/>
                      </a:pPr>
                      <a:r>
                        <a:rPr lang="en-US" sz="2660">
                          <a:solidFill>
                            <a:srgbClr val="000000"/>
                          </a:solidFill>
                          <a:latin typeface="Times New Roman MT"/>
                          <a:ea typeface="Times New Roman MT"/>
                          <a:cs typeface="Times New Roman MT"/>
                          <a:sym typeface="Times New Roman MT"/>
                        </a:rPr>
                        <a:t>445009176</a:t>
                      </a:r>
                      <a:endParaRPr lang="en-US" sz="1100"/>
                    </a:p>
                  </a:txBody>
                  <a:tcPr marL="104371" marR="104371" marT="104371" marB="104371" anchor="ctr">
                    <a:lnL cmpd="sng" algn="ctr" cap="flat" w="1739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739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739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739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29897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720"/>
                        </a:lnSpc>
                        <a:defRPr/>
                      </a:pPr>
                      <a:r>
                        <a:rPr lang="en-US" sz="2657">
                          <a:solidFill>
                            <a:srgbClr val="000000"/>
                          </a:solidFill>
                          <a:latin typeface="Times New Roman MT"/>
                          <a:ea typeface="Times New Roman MT"/>
                          <a:cs typeface="Times New Roman MT"/>
                          <a:sym typeface="Times New Roman MT"/>
                        </a:rPr>
                        <a:t>Rand Abdullah Alzoman</a:t>
                      </a:r>
                      <a:endParaRPr lang="en-US" sz="1100"/>
                    </a:p>
                  </a:txBody>
                  <a:tcPr marL="104371" marR="104371" marT="104371" marB="104371" anchor="ctr">
                    <a:lnL cmpd="sng" algn="ctr" cap="flat" w="1739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739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739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739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724"/>
                        </a:lnSpc>
                        <a:defRPr/>
                      </a:pPr>
                      <a:r>
                        <a:rPr lang="en-US" sz="2660">
                          <a:solidFill>
                            <a:srgbClr val="000000"/>
                          </a:solidFill>
                          <a:latin typeface="Times New Roman MT"/>
                          <a:ea typeface="Times New Roman MT"/>
                          <a:cs typeface="Times New Roman MT"/>
                          <a:sym typeface="Times New Roman MT"/>
                        </a:rPr>
                        <a:t>445009181</a:t>
                      </a:r>
                      <a:endParaRPr lang="en-US" sz="1100"/>
                    </a:p>
                  </a:txBody>
                  <a:tcPr marL="104371" marR="104371" marT="104371" marB="104371" anchor="ctr">
                    <a:lnL cmpd="sng" algn="ctr" cap="flat" w="1739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739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739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739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213281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720"/>
                        </a:lnSpc>
                        <a:defRPr/>
                      </a:pPr>
                      <a:r>
                        <a:rPr lang="en-US" sz="2657">
                          <a:solidFill>
                            <a:srgbClr val="000000"/>
                          </a:solidFill>
                          <a:latin typeface="Times New Roman MT"/>
                          <a:ea typeface="Times New Roman MT"/>
                          <a:cs typeface="Times New Roman MT"/>
                          <a:sym typeface="Times New Roman MT"/>
                        </a:rPr>
                        <a:t>Lujain Eid Alruwaili</a:t>
                      </a:r>
                      <a:endParaRPr lang="en-US" sz="1100"/>
                    </a:p>
                  </a:txBody>
                  <a:tcPr marL="104371" marR="104371" marT="104371" marB="104371" anchor="ctr">
                    <a:lnL cmpd="sng" algn="ctr" cap="flat" w="1739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739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739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739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724"/>
                        </a:lnSpc>
                        <a:defRPr/>
                      </a:pPr>
                      <a:r>
                        <a:rPr lang="en-US" sz="2660">
                          <a:solidFill>
                            <a:srgbClr val="000000"/>
                          </a:solidFill>
                          <a:latin typeface="Times New Roman MT"/>
                          <a:ea typeface="Times New Roman MT"/>
                          <a:cs typeface="Times New Roman MT"/>
                          <a:sym typeface="Times New Roman MT"/>
                        </a:rPr>
                        <a:t>4450009180</a:t>
                      </a:r>
                      <a:endParaRPr lang="en-US" sz="1100"/>
                    </a:p>
                    <a:p>
                      <a:pPr algn="ctr">
                        <a:lnSpc>
                          <a:spcPts val="3724"/>
                        </a:lnSpc>
                      </a:pPr>
                    </a:p>
                  </a:txBody>
                  <a:tcPr marL="104371" marR="104371" marT="104371" marB="104371" anchor="ctr">
                    <a:lnL cmpd="sng" algn="ctr" cap="flat" w="1739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739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739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739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39544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720"/>
                        </a:lnSpc>
                        <a:defRPr/>
                      </a:pPr>
                      <a:r>
                        <a:rPr lang="en-US" sz="2657">
                          <a:solidFill>
                            <a:srgbClr val="000000"/>
                          </a:solidFill>
                          <a:latin typeface="Times New Roman MT"/>
                          <a:ea typeface="Times New Roman MT"/>
                          <a:cs typeface="Times New Roman MT"/>
                          <a:sym typeface="Times New Roman MT"/>
                        </a:rPr>
                        <a:t>Jumanah Maher Aljuhani </a:t>
                      </a:r>
                      <a:endParaRPr lang="en-US" sz="1100"/>
                    </a:p>
                  </a:txBody>
                  <a:tcPr marL="104371" marR="104371" marT="104371" marB="104371" anchor="ctr">
                    <a:lnL cmpd="sng" algn="ctr" cap="flat" w="1739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739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739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739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724"/>
                        </a:lnSpc>
                        <a:defRPr/>
                      </a:pPr>
                      <a:r>
                        <a:rPr lang="en-US" sz="2660">
                          <a:solidFill>
                            <a:srgbClr val="000000"/>
                          </a:solidFill>
                          <a:latin typeface="Times New Roman MT"/>
                          <a:ea typeface="Times New Roman MT"/>
                          <a:cs typeface="Times New Roman MT"/>
                          <a:sym typeface="Times New Roman MT"/>
                        </a:rPr>
                        <a:t>445009184</a:t>
                      </a:r>
                      <a:endParaRPr lang="en-US" sz="1100"/>
                    </a:p>
                  </a:txBody>
                  <a:tcPr marL="104371" marR="104371" marT="104371" marB="104371" anchor="ctr">
                    <a:lnL cmpd="sng" algn="ctr" cap="flat" w="1739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739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739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739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037522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720"/>
                        </a:lnSpc>
                        <a:defRPr/>
                      </a:pPr>
                      <a:r>
                        <a:rPr lang="en-US" sz="2657">
                          <a:solidFill>
                            <a:srgbClr val="000000"/>
                          </a:solidFill>
                          <a:latin typeface="Times New Roman MT"/>
                          <a:ea typeface="Times New Roman MT"/>
                          <a:cs typeface="Times New Roman MT"/>
                          <a:sym typeface="Times New Roman MT"/>
                        </a:rPr>
                        <a:t>Munirah Almousa</a:t>
                      </a:r>
                      <a:endParaRPr lang="en-US" sz="1100"/>
                    </a:p>
                  </a:txBody>
                  <a:tcPr marL="104371" marR="104371" marT="104371" marB="104371" anchor="ctr">
                    <a:lnL cmpd="sng" algn="ctr" cap="flat" w="1739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739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739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739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724"/>
                        </a:lnSpc>
                        <a:defRPr/>
                      </a:pPr>
                      <a:r>
                        <a:rPr lang="en-US" sz="2660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445009156</a:t>
                      </a:r>
                      <a:endParaRPr lang="en-US" sz="1100"/>
                    </a:p>
                  </a:txBody>
                  <a:tcPr marL="104371" marR="104371" marT="104371" marB="104371" anchor="ctr">
                    <a:lnL cmpd="sng" algn="ctr" cap="flat" w="1739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739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739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739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3279361" y="-2684741"/>
            <a:ext cx="17987306" cy="15656483"/>
            <a:chOff x="0" y="0"/>
            <a:chExt cx="933804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933804" cy="812800"/>
            </a:xfrm>
            <a:custGeom>
              <a:avLst/>
              <a:gdLst/>
              <a:ahLst/>
              <a:cxnLst/>
              <a:rect r="r" b="b" t="t" l="l"/>
              <a:pathLst>
                <a:path h="812800" w="933804">
                  <a:moveTo>
                    <a:pt x="466902" y="0"/>
                  </a:moveTo>
                  <a:cubicBezTo>
                    <a:pt x="209039" y="0"/>
                    <a:pt x="0" y="181951"/>
                    <a:pt x="0" y="406400"/>
                  </a:cubicBezTo>
                  <a:cubicBezTo>
                    <a:pt x="0" y="630849"/>
                    <a:pt x="209039" y="812800"/>
                    <a:pt x="466902" y="812800"/>
                  </a:cubicBezTo>
                  <a:cubicBezTo>
                    <a:pt x="724765" y="812800"/>
                    <a:pt x="933804" y="630849"/>
                    <a:pt x="933804" y="406400"/>
                  </a:cubicBezTo>
                  <a:cubicBezTo>
                    <a:pt x="933804" y="181951"/>
                    <a:pt x="724765" y="0"/>
                    <a:pt x="466902" y="0"/>
                  </a:cubicBezTo>
                  <a:close/>
                </a:path>
              </a:pathLst>
            </a:custGeom>
            <a:solidFill>
              <a:srgbClr val="EAEBE9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87544" y="28575"/>
              <a:ext cx="758716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12"/>
                </a:lnSpc>
              </a:pPr>
            </a:p>
          </p:txBody>
        </p:sp>
      </p:grpSp>
      <p:sp>
        <p:nvSpPr>
          <p:cNvPr name="AutoShape 5" id="5"/>
          <p:cNvSpPr/>
          <p:nvPr/>
        </p:nvSpPr>
        <p:spPr>
          <a:xfrm>
            <a:off x="13282955" y="8322576"/>
            <a:ext cx="0" cy="2610617"/>
          </a:xfrm>
          <a:prstGeom prst="line">
            <a:avLst/>
          </a:prstGeom>
          <a:ln cap="flat" w="123825">
            <a:solidFill>
              <a:srgbClr val="BBC8B1"/>
            </a:solidFill>
            <a:prstDash val="sysDot"/>
            <a:headEnd type="none" len="sm" w="sm"/>
            <a:tailEnd type="none" len="sm" w="sm"/>
          </a:ln>
        </p:spPr>
      </p:sp>
      <p:sp>
        <p:nvSpPr>
          <p:cNvPr name="TextBox 6" id="6"/>
          <p:cNvSpPr txBox="true"/>
          <p:nvPr/>
        </p:nvSpPr>
        <p:spPr>
          <a:xfrm rot="0">
            <a:off x="742162" y="3169880"/>
            <a:ext cx="11113090" cy="26162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53"/>
              </a:lnSpc>
            </a:pPr>
            <a:r>
              <a:rPr lang="en-US" sz="2466">
                <a:solidFill>
                  <a:srgbClr val="000000"/>
                </a:solidFill>
                <a:latin typeface="Futura"/>
                <a:ea typeface="Futura"/>
                <a:cs typeface="Futura"/>
                <a:sym typeface="Futura"/>
              </a:rPr>
              <a:t>Sprint 1 focused on building the core features of the Eventure system. The team implemented user registration, event creation and management, ticket handling, and QR-based check-in. These functions form the system’s foundation, enabling organizers to manage events efficiently and attendees to register and check in easily.</a:t>
            </a:r>
          </a:p>
          <a:p>
            <a:pPr algn="l">
              <a:lnSpc>
                <a:spcPts val="3453"/>
              </a:lnSpc>
            </a:pP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496285" y="7653113"/>
            <a:ext cx="11604845" cy="1338927"/>
          </a:xfrm>
          <a:custGeom>
            <a:avLst/>
            <a:gdLst/>
            <a:ahLst/>
            <a:cxnLst/>
            <a:rect r="r" b="b" t="t" l="l"/>
            <a:pathLst>
              <a:path h="1338927" w="11604845">
                <a:moveTo>
                  <a:pt x="0" y="0"/>
                </a:moveTo>
                <a:lnTo>
                  <a:pt x="11604845" y="0"/>
                </a:lnTo>
                <a:lnTo>
                  <a:pt x="11604845" y="1338926"/>
                </a:lnTo>
                <a:lnTo>
                  <a:pt x="0" y="133892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-357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216500" y="298395"/>
            <a:ext cx="9691523" cy="16015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3050"/>
              </a:lnSpc>
              <a:spcBef>
                <a:spcPct val="0"/>
              </a:spcBef>
            </a:pPr>
            <a:r>
              <a:rPr lang="en-US" b="true" sz="9321">
                <a:solidFill>
                  <a:srgbClr val="465739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Introduction 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630208" y="-514350"/>
            <a:ext cx="17463561" cy="2359140"/>
            <a:chOff x="0" y="0"/>
            <a:chExt cx="4599456" cy="62133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599456" cy="621337"/>
            </a:xfrm>
            <a:custGeom>
              <a:avLst/>
              <a:gdLst/>
              <a:ahLst/>
              <a:cxnLst/>
              <a:rect r="r" b="b" t="t" l="l"/>
              <a:pathLst>
                <a:path h="621337" w="4599456">
                  <a:moveTo>
                    <a:pt x="0" y="0"/>
                  </a:moveTo>
                  <a:lnTo>
                    <a:pt x="4599456" y="0"/>
                  </a:lnTo>
                  <a:lnTo>
                    <a:pt x="4599456" y="621337"/>
                  </a:lnTo>
                  <a:lnTo>
                    <a:pt x="0" y="621337"/>
                  </a:lnTo>
                  <a:close/>
                </a:path>
              </a:pathLst>
            </a:custGeom>
            <a:solidFill>
              <a:srgbClr val="EAEBE9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4599456" cy="66896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12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-5400000">
            <a:off x="5865957" y="-2674011"/>
            <a:ext cx="657694" cy="7336156"/>
            <a:chOff x="0" y="0"/>
            <a:chExt cx="876925" cy="9781541"/>
          </a:xfrm>
        </p:grpSpPr>
        <p:grpSp>
          <p:nvGrpSpPr>
            <p:cNvPr name="Group 6" id="6"/>
            <p:cNvGrpSpPr/>
            <p:nvPr/>
          </p:nvGrpSpPr>
          <p:grpSpPr>
            <a:xfrm rot="0">
              <a:off x="0" y="0"/>
              <a:ext cx="876925" cy="876925"/>
              <a:chOff x="0" y="0"/>
              <a:chExt cx="812800" cy="812800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BBC8B1"/>
              </a:solidFill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012"/>
                  </a:lnSpc>
                </a:pPr>
              </a:p>
            </p:txBody>
          </p:sp>
        </p:grpSp>
        <p:sp>
          <p:nvSpPr>
            <p:cNvPr name="TextBox 9" id="9"/>
            <p:cNvSpPr txBox="true"/>
            <p:nvPr/>
          </p:nvSpPr>
          <p:spPr>
            <a:xfrm rot="5400000">
              <a:off x="-3717117" y="5016049"/>
              <a:ext cx="8482609" cy="10483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6119"/>
                </a:lnSpc>
                <a:spcBef>
                  <a:spcPct val="0"/>
                </a:spcBef>
              </a:pPr>
              <a:r>
                <a:rPr lang="en-US" sz="4371" i="true">
                  <a:solidFill>
                    <a:srgbClr val="465739"/>
                  </a:solidFill>
                  <a:latin typeface="Futura Italics"/>
                  <a:ea typeface="Futura Italics"/>
                  <a:cs typeface="Futura Italics"/>
                  <a:sym typeface="Futura Italics"/>
                </a:rPr>
                <a:t>Scrum Team</a:t>
              </a:r>
            </a:p>
          </p:txBody>
        </p:sp>
      </p:grpSp>
      <p:graphicFrame>
        <p:nvGraphicFramePr>
          <p:cNvPr name="Table 10" id="10"/>
          <p:cNvGraphicFramePr>
            <a:graphicFrameLocks noGrp="true"/>
          </p:cNvGraphicFramePr>
          <p:nvPr/>
        </p:nvGraphicFramePr>
        <p:xfrm>
          <a:off x="2141570" y="2671401"/>
          <a:ext cx="14004859" cy="6586899"/>
        </p:xfrm>
        <a:graphic>
          <a:graphicData uri="http://schemas.openxmlformats.org/drawingml/2006/table">
            <a:tbl>
              <a:tblPr/>
              <a:tblGrid>
                <a:gridCol w="4509197"/>
                <a:gridCol w="4928898"/>
                <a:gridCol w="4566764"/>
              </a:tblGrid>
              <a:tr h="144892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r>
                        <a:rPr lang="en-US" sz="2499" b="true">
                          <a:solidFill>
                            <a:srgbClr val="000000"/>
                          </a:solidFill>
                          <a:latin typeface="Times New Roman MT Bold"/>
                          <a:ea typeface="Times New Roman MT Bold"/>
                          <a:cs typeface="Times New Roman MT Bold"/>
                          <a:sym typeface="Times New Roman MT Bold"/>
                        </a:rPr>
                        <a:t>Responsibilities</a:t>
                      </a:r>
                      <a:endParaRPr lang="en-US" sz="1100"/>
                    </a:p>
                  </a:txBody>
                  <a:tcPr marL="109970" marR="109970" marT="109970" marB="109970" anchor="ctr">
                    <a:lnL cmpd="sng" algn="ctr" cap="flat" w="18328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8328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8328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8328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r>
                        <a:rPr lang="en-US" sz="2499" b="true">
                          <a:solidFill>
                            <a:srgbClr val="000000"/>
                          </a:solidFill>
                          <a:latin typeface="Times New Roman MT Bold"/>
                          <a:ea typeface="Times New Roman MT Bold"/>
                          <a:cs typeface="Times New Roman MT Bold"/>
                          <a:sym typeface="Times New Roman MT Bold"/>
                        </a:rPr>
                        <a:t>Member</a:t>
                      </a:r>
                      <a:endParaRPr lang="en-US" sz="1100"/>
                    </a:p>
                  </a:txBody>
                  <a:tcPr marL="109970" marR="109970" marT="109970" marB="109970" anchor="ctr">
                    <a:lnL cmpd="sng" algn="ctr" cap="flat" w="18328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8328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8328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8328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r>
                        <a:rPr lang="en-US" sz="2499" b="true">
                          <a:solidFill>
                            <a:srgbClr val="000000"/>
                          </a:solidFill>
                          <a:latin typeface="Times New Roman MT Bold"/>
                          <a:ea typeface="Times New Roman MT Bold"/>
                          <a:cs typeface="Times New Roman MT Bold"/>
                          <a:sym typeface="Times New Roman MT Bold"/>
                        </a:rPr>
                        <a:t>Role</a:t>
                      </a:r>
                      <a:endParaRPr lang="en-US" sz="1100"/>
                    </a:p>
                  </a:txBody>
                  <a:tcPr marL="109970" marR="109970" marT="109970" marB="109970" anchor="ctr">
                    <a:lnL cmpd="sng" algn="ctr" cap="flat" w="18328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8328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8328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8328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408701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Times New Roman MT"/>
                          <a:ea typeface="Times New Roman MT"/>
                          <a:cs typeface="Times New Roman MT"/>
                          <a:sym typeface="Times New Roman MT"/>
                        </a:rPr>
                        <a:t>Define the vision and prioritize backlog items</a:t>
                      </a:r>
                      <a:endParaRPr lang="en-US" sz="1100"/>
                    </a:p>
                  </a:txBody>
                  <a:tcPr marL="109970" marR="109970" marT="109970" marB="109970" anchor="ctr">
                    <a:lnL cmpd="sng" algn="ctr" cap="flat" w="18328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8328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8328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8328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Times New Roman MT"/>
                          <a:ea typeface="Times New Roman MT"/>
                          <a:cs typeface="Times New Roman MT"/>
                          <a:sym typeface="Times New Roman MT"/>
                        </a:rPr>
                        <a:t>Jumanah</a:t>
                      </a:r>
                      <a:endParaRPr lang="en-US" sz="1100"/>
                    </a:p>
                  </a:txBody>
                  <a:tcPr marL="109970" marR="109970" marT="109970" marB="109970" anchor="ctr">
                    <a:lnL cmpd="sng" algn="ctr" cap="flat" w="18328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8328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8328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8328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Times New Roman MT"/>
                          <a:ea typeface="Times New Roman MT"/>
                          <a:cs typeface="Times New Roman MT"/>
                          <a:sym typeface="Times New Roman MT"/>
                        </a:rPr>
                        <a:t>Product Owner</a:t>
                      </a:r>
                      <a:endParaRPr lang="en-US" sz="1100"/>
                    </a:p>
                  </a:txBody>
                  <a:tcPr marL="109970" marR="109970" marT="109970" marB="109970" anchor="ctr">
                    <a:lnL cmpd="sng" algn="ctr" cap="flat" w="18328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8328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8328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8328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66181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Times New Roman MT"/>
                          <a:ea typeface="Times New Roman MT"/>
                          <a:cs typeface="Times New Roman MT"/>
                          <a:sym typeface="Times New Roman MT"/>
                        </a:rPr>
                        <a:t>Organize meetings and remove obstacles</a:t>
                      </a:r>
                      <a:endParaRPr lang="en-US" sz="1100"/>
                    </a:p>
                  </a:txBody>
                  <a:tcPr marL="109970" marR="109970" marT="109970" marB="109970" anchor="ctr">
                    <a:lnL cmpd="sng" algn="ctr" cap="flat" w="18328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8328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8328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8328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Times New Roman MT"/>
                          <a:ea typeface="Times New Roman MT"/>
                          <a:cs typeface="Times New Roman MT"/>
                          <a:sym typeface="Times New Roman MT"/>
                        </a:rPr>
                        <a:t>Lujain</a:t>
                      </a:r>
                      <a:endParaRPr lang="en-US" sz="1100"/>
                    </a:p>
                  </a:txBody>
                  <a:tcPr marL="109970" marR="109970" marT="109970" marB="109970" anchor="ctr">
                    <a:lnL cmpd="sng" algn="ctr" cap="flat" w="18328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8328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8328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8328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Times New Roman MT"/>
                          <a:ea typeface="Times New Roman MT"/>
                          <a:cs typeface="Times New Roman MT"/>
                          <a:sym typeface="Times New Roman MT"/>
                        </a:rPr>
                        <a:t>Scrum Master</a:t>
                      </a:r>
                      <a:endParaRPr lang="en-US" sz="1100"/>
                    </a:p>
                  </a:txBody>
                  <a:tcPr marL="109970" marR="109970" marT="109970" marB="109970" anchor="ctr">
                    <a:lnL cmpd="sng" algn="ctr" cap="flat" w="18328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8328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8328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8328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067469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Times New Roman MT"/>
                          <a:ea typeface="Times New Roman MT"/>
                          <a:cs typeface="Times New Roman MT"/>
                          <a:sym typeface="Times New Roman MT"/>
                        </a:rPr>
                        <a:t>Develop front-end, back-end, database, and testing</a:t>
                      </a:r>
                      <a:endParaRPr lang="en-US" sz="1100"/>
                    </a:p>
                  </a:txBody>
                  <a:tcPr marL="109970" marR="109970" marT="109970" marB="109970" anchor="ctr">
                    <a:lnL cmpd="sng" algn="ctr" cap="flat" w="18328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8328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8328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8328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Times New Roman MT"/>
                          <a:ea typeface="Times New Roman MT"/>
                          <a:cs typeface="Times New Roman MT"/>
                          <a:sym typeface="Times New Roman MT"/>
                        </a:rPr>
                        <a:t>Rand</a:t>
                      </a:r>
                      <a:endParaRPr lang="en-US" sz="1100"/>
                    </a:p>
                    <a:p>
                      <a:pPr algn="ctr">
                        <a:lnSpc>
                          <a:spcPts val="2800"/>
                        </a:lnSpc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Times New Roman MT"/>
                          <a:ea typeface="Times New Roman MT"/>
                          <a:cs typeface="Times New Roman MT"/>
                          <a:sym typeface="Times New Roman MT"/>
                        </a:rPr>
                        <a:t>Munirah</a:t>
                      </a:r>
                    </a:p>
                    <a:p>
                      <a:pPr algn="ctr">
                        <a:lnSpc>
                          <a:spcPts val="2800"/>
                        </a:lnSpc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Times New Roman MT"/>
                          <a:ea typeface="Times New Roman MT"/>
                          <a:cs typeface="Times New Roman MT"/>
                          <a:sym typeface="Times New Roman MT"/>
                        </a:rPr>
                        <a:t>Rana</a:t>
                      </a:r>
                    </a:p>
                  </a:txBody>
                  <a:tcPr marL="109970" marR="109970" marT="109970" marB="109970" anchor="ctr">
                    <a:lnL cmpd="sng" algn="ctr" cap="flat" w="18328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8328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8328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8328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Times New Roman MT"/>
                          <a:ea typeface="Times New Roman MT"/>
                          <a:cs typeface="Times New Roman MT"/>
                          <a:sym typeface="Times New Roman MT"/>
                        </a:rPr>
                        <a:t>Development Team</a:t>
                      </a:r>
                      <a:endParaRPr lang="en-US" sz="1100"/>
                    </a:p>
                  </a:txBody>
                  <a:tcPr marL="109970" marR="109970" marT="109970" marB="109970" anchor="ctr">
                    <a:lnL cmpd="sng" algn="ctr" cap="flat" w="18328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8328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8328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8328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name="Freeform 11" id="11"/>
          <p:cNvSpPr/>
          <p:nvPr/>
        </p:nvSpPr>
        <p:spPr>
          <a:xfrm flipH="false" flipV="false" rot="0">
            <a:off x="6951421" y="685507"/>
            <a:ext cx="1150151" cy="617120"/>
          </a:xfrm>
          <a:custGeom>
            <a:avLst/>
            <a:gdLst/>
            <a:ahLst/>
            <a:cxnLst/>
            <a:rect r="r" b="b" t="t" l="l"/>
            <a:pathLst>
              <a:path h="617120" w="1150151">
                <a:moveTo>
                  <a:pt x="0" y="0"/>
                </a:moveTo>
                <a:lnTo>
                  <a:pt x="1150151" y="0"/>
                </a:lnTo>
                <a:lnTo>
                  <a:pt x="1150151" y="617120"/>
                </a:lnTo>
                <a:lnTo>
                  <a:pt x="0" y="61712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514350" y="-514350"/>
            <a:ext cx="17773650" cy="1858476"/>
            <a:chOff x="0" y="0"/>
            <a:chExt cx="4681126" cy="48947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681126" cy="489475"/>
            </a:xfrm>
            <a:custGeom>
              <a:avLst/>
              <a:gdLst/>
              <a:ahLst/>
              <a:cxnLst/>
              <a:rect r="r" b="b" t="t" l="l"/>
              <a:pathLst>
                <a:path h="489475" w="4681126">
                  <a:moveTo>
                    <a:pt x="0" y="0"/>
                  </a:moveTo>
                  <a:lnTo>
                    <a:pt x="4681126" y="0"/>
                  </a:lnTo>
                  <a:lnTo>
                    <a:pt x="4681126" y="489475"/>
                  </a:lnTo>
                  <a:lnTo>
                    <a:pt x="0" y="489475"/>
                  </a:lnTo>
                  <a:close/>
                </a:path>
              </a:pathLst>
            </a:custGeom>
            <a:solidFill>
              <a:srgbClr val="EAEBE9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4681126" cy="537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12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-5400000">
            <a:off x="5731486" y="-2924343"/>
            <a:ext cx="657694" cy="7336156"/>
            <a:chOff x="0" y="0"/>
            <a:chExt cx="876925" cy="9781541"/>
          </a:xfrm>
        </p:grpSpPr>
        <p:grpSp>
          <p:nvGrpSpPr>
            <p:cNvPr name="Group 6" id="6"/>
            <p:cNvGrpSpPr/>
            <p:nvPr/>
          </p:nvGrpSpPr>
          <p:grpSpPr>
            <a:xfrm rot="0">
              <a:off x="0" y="0"/>
              <a:ext cx="876925" cy="876925"/>
              <a:chOff x="0" y="0"/>
              <a:chExt cx="812800" cy="812800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BBC8B1"/>
              </a:solidFill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012"/>
                  </a:lnSpc>
                </a:pPr>
              </a:p>
            </p:txBody>
          </p:sp>
        </p:grpSp>
        <p:sp>
          <p:nvSpPr>
            <p:cNvPr name="TextBox 9" id="9"/>
            <p:cNvSpPr txBox="true"/>
            <p:nvPr/>
          </p:nvSpPr>
          <p:spPr>
            <a:xfrm rot="5400000">
              <a:off x="-3717117" y="5016049"/>
              <a:ext cx="8482609" cy="10483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6119"/>
                </a:lnSpc>
                <a:spcBef>
                  <a:spcPct val="0"/>
                </a:spcBef>
              </a:pPr>
              <a:r>
                <a:rPr lang="en-US" sz="4371" i="true">
                  <a:solidFill>
                    <a:srgbClr val="465739"/>
                  </a:solidFill>
                  <a:latin typeface="Futura Italics"/>
                  <a:ea typeface="Futura Italics"/>
                  <a:cs typeface="Futura Italics"/>
                  <a:sym typeface="Futura Italics"/>
                </a:rPr>
                <a:t>Product backlog</a:t>
              </a:r>
            </a:p>
          </p:txBody>
        </p:sp>
      </p:grpSp>
      <p:sp>
        <p:nvSpPr>
          <p:cNvPr name="Freeform 10" id="10"/>
          <p:cNvSpPr/>
          <p:nvPr/>
        </p:nvSpPr>
        <p:spPr>
          <a:xfrm flipH="false" flipV="false" rot="0">
            <a:off x="949434" y="2499042"/>
            <a:ext cx="16309866" cy="5810390"/>
          </a:xfrm>
          <a:custGeom>
            <a:avLst/>
            <a:gdLst/>
            <a:ahLst/>
            <a:cxnLst/>
            <a:rect r="r" b="b" t="t" l="l"/>
            <a:pathLst>
              <a:path h="5810390" w="16309866">
                <a:moveTo>
                  <a:pt x="0" y="0"/>
                </a:moveTo>
                <a:lnTo>
                  <a:pt x="16309866" y="0"/>
                </a:lnTo>
                <a:lnTo>
                  <a:pt x="16309866" y="5810389"/>
                </a:lnTo>
                <a:lnTo>
                  <a:pt x="0" y="581038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630208" y="-514350"/>
            <a:ext cx="17463561" cy="2359140"/>
            <a:chOff x="0" y="0"/>
            <a:chExt cx="4599456" cy="62133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599456" cy="621337"/>
            </a:xfrm>
            <a:custGeom>
              <a:avLst/>
              <a:gdLst/>
              <a:ahLst/>
              <a:cxnLst/>
              <a:rect r="r" b="b" t="t" l="l"/>
              <a:pathLst>
                <a:path h="621337" w="4599456">
                  <a:moveTo>
                    <a:pt x="0" y="0"/>
                  </a:moveTo>
                  <a:lnTo>
                    <a:pt x="4599456" y="0"/>
                  </a:lnTo>
                  <a:lnTo>
                    <a:pt x="4599456" y="621337"/>
                  </a:lnTo>
                  <a:lnTo>
                    <a:pt x="0" y="621337"/>
                  </a:lnTo>
                  <a:close/>
                </a:path>
              </a:pathLst>
            </a:custGeom>
            <a:solidFill>
              <a:srgbClr val="EAEBE9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4599456" cy="66896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12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-5400000">
            <a:off x="5865957" y="-2674011"/>
            <a:ext cx="657694" cy="7336156"/>
            <a:chOff x="0" y="0"/>
            <a:chExt cx="876925" cy="9781541"/>
          </a:xfrm>
        </p:grpSpPr>
        <p:grpSp>
          <p:nvGrpSpPr>
            <p:cNvPr name="Group 6" id="6"/>
            <p:cNvGrpSpPr/>
            <p:nvPr/>
          </p:nvGrpSpPr>
          <p:grpSpPr>
            <a:xfrm rot="0">
              <a:off x="0" y="0"/>
              <a:ext cx="876925" cy="876925"/>
              <a:chOff x="0" y="0"/>
              <a:chExt cx="812800" cy="812800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BBC8B1"/>
              </a:solidFill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012"/>
                  </a:lnSpc>
                </a:pPr>
              </a:p>
            </p:txBody>
          </p:sp>
        </p:grpSp>
        <p:sp>
          <p:nvSpPr>
            <p:cNvPr name="TextBox 9" id="9"/>
            <p:cNvSpPr txBox="true"/>
            <p:nvPr/>
          </p:nvSpPr>
          <p:spPr>
            <a:xfrm rot="5400000">
              <a:off x="-3717117" y="5016049"/>
              <a:ext cx="8482609" cy="10483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6119"/>
                </a:lnSpc>
                <a:spcBef>
                  <a:spcPct val="0"/>
                </a:spcBef>
              </a:pPr>
              <a:r>
                <a:rPr lang="en-US" sz="4371" i="true">
                  <a:solidFill>
                    <a:srgbClr val="465739"/>
                  </a:solidFill>
                  <a:latin typeface="Futura Italics"/>
                  <a:ea typeface="Futura Italics"/>
                  <a:cs typeface="Futura Italics"/>
                  <a:sym typeface="Futura Italics"/>
                </a:rPr>
                <a:t>Sprint Backlog </a:t>
              </a:r>
            </a:p>
          </p:txBody>
        </p:sp>
      </p:grpSp>
      <p:sp>
        <p:nvSpPr>
          <p:cNvPr name="Freeform 10" id="10"/>
          <p:cNvSpPr/>
          <p:nvPr/>
        </p:nvSpPr>
        <p:spPr>
          <a:xfrm flipH="false" flipV="false" rot="0">
            <a:off x="7225406" y="665220"/>
            <a:ext cx="569562" cy="649916"/>
          </a:xfrm>
          <a:custGeom>
            <a:avLst/>
            <a:gdLst/>
            <a:ahLst/>
            <a:cxnLst/>
            <a:rect r="r" b="b" t="t" l="l"/>
            <a:pathLst>
              <a:path h="649916" w="569562">
                <a:moveTo>
                  <a:pt x="0" y="0"/>
                </a:moveTo>
                <a:lnTo>
                  <a:pt x="569563" y="0"/>
                </a:lnTo>
                <a:lnTo>
                  <a:pt x="569563" y="649916"/>
                </a:lnTo>
                <a:lnTo>
                  <a:pt x="0" y="64991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028700" y="2531583"/>
            <a:ext cx="15614745" cy="6128788"/>
          </a:xfrm>
          <a:custGeom>
            <a:avLst/>
            <a:gdLst/>
            <a:ahLst/>
            <a:cxnLst/>
            <a:rect r="r" b="b" t="t" l="l"/>
            <a:pathLst>
              <a:path h="6128788" w="15614745">
                <a:moveTo>
                  <a:pt x="0" y="0"/>
                </a:moveTo>
                <a:lnTo>
                  <a:pt x="15614745" y="0"/>
                </a:lnTo>
                <a:lnTo>
                  <a:pt x="15614745" y="6128788"/>
                </a:lnTo>
                <a:lnTo>
                  <a:pt x="0" y="612878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402107" y="2906900"/>
            <a:ext cx="19185407" cy="2270513"/>
            <a:chOff x="0" y="0"/>
            <a:chExt cx="5052947" cy="59799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052947" cy="597995"/>
            </a:xfrm>
            <a:custGeom>
              <a:avLst/>
              <a:gdLst/>
              <a:ahLst/>
              <a:cxnLst/>
              <a:rect r="r" b="b" t="t" l="l"/>
              <a:pathLst>
                <a:path h="597995" w="5052947">
                  <a:moveTo>
                    <a:pt x="0" y="0"/>
                  </a:moveTo>
                  <a:lnTo>
                    <a:pt x="5052947" y="0"/>
                  </a:lnTo>
                  <a:lnTo>
                    <a:pt x="5052947" y="597995"/>
                  </a:lnTo>
                  <a:lnTo>
                    <a:pt x="0" y="597995"/>
                  </a:lnTo>
                  <a:close/>
                </a:path>
              </a:pathLst>
            </a:custGeom>
            <a:solidFill>
              <a:srgbClr val="EAEBE9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5052947" cy="64562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12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-402107" y="8369294"/>
            <a:ext cx="2389151" cy="2402255"/>
          </a:xfrm>
          <a:custGeom>
            <a:avLst/>
            <a:gdLst/>
            <a:ahLst/>
            <a:cxnLst/>
            <a:rect r="r" b="b" t="t" l="l"/>
            <a:pathLst>
              <a:path h="2402255" w="2389151">
                <a:moveTo>
                  <a:pt x="0" y="0"/>
                </a:moveTo>
                <a:lnTo>
                  <a:pt x="2389151" y="0"/>
                </a:lnTo>
                <a:lnTo>
                  <a:pt x="2389151" y="2402254"/>
                </a:lnTo>
                <a:lnTo>
                  <a:pt x="0" y="240225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792468" y="3266411"/>
            <a:ext cx="16043318" cy="26728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33"/>
              </a:lnSpc>
            </a:pPr>
            <a:r>
              <a:rPr lang="en-US" sz="2166">
                <a:solidFill>
                  <a:srgbClr val="000000"/>
                </a:solidFill>
                <a:latin typeface="Futura"/>
                <a:ea typeface="Futura"/>
                <a:cs typeface="Futura"/>
                <a:sym typeface="Futura"/>
              </a:rPr>
              <a:t>1.</a:t>
            </a:r>
            <a:r>
              <a:rPr lang="en-US" sz="2166">
                <a:solidFill>
                  <a:srgbClr val="000000"/>
                </a:solidFill>
                <a:latin typeface="Futura"/>
                <a:ea typeface="Futura"/>
                <a:cs typeface="Futura"/>
                <a:sym typeface="Futura"/>
              </a:rPr>
              <a:t> Sprint Goal</a:t>
            </a:r>
          </a:p>
          <a:p>
            <a:pPr algn="l">
              <a:lnSpc>
                <a:spcPts val="3033"/>
              </a:lnSpc>
            </a:pPr>
            <a:r>
              <a:rPr lang="en-US" sz="2166">
                <a:solidFill>
                  <a:srgbClr val="000000"/>
                </a:solidFill>
                <a:latin typeface="Futura"/>
                <a:ea typeface="Futura"/>
                <a:cs typeface="Futura"/>
                <a:sym typeface="Futura"/>
              </a:rPr>
              <a:t>Deliver the core functionalities of the Eventure system by implementing event creation, user registration, ticket management, and QR-based check-in.</a:t>
            </a:r>
          </a:p>
          <a:p>
            <a:pPr algn="l">
              <a:lnSpc>
                <a:spcPts val="3033"/>
              </a:lnSpc>
            </a:pPr>
          </a:p>
          <a:p>
            <a:pPr algn="l">
              <a:lnSpc>
                <a:spcPts val="3033"/>
              </a:lnSpc>
            </a:pPr>
          </a:p>
          <a:p>
            <a:pPr algn="l">
              <a:lnSpc>
                <a:spcPts val="3033"/>
              </a:lnSpc>
            </a:pPr>
          </a:p>
          <a:p>
            <a:pPr algn="l">
              <a:lnSpc>
                <a:spcPts val="3033"/>
              </a:lnSpc>
            </a:pP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514350" y="-514350"/>
            <a:ext cx="17773650" cy="1858476"/>
            <a:chOff x="0" y="0"/>
            <a:chExt cx="4681126" cy="48947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681126" cy="489475"/>
            </a:xfrm>
            <a:custGeom>
              <a:avLst/>
              <a:gdLst/>
              <a:ahLst/>
              <a:cxnLst/>
              <a:rect r="r" b="b" t="t" l="l"/>
              <a:pathLst>
                <a:path h="489475" w="4681126">
                  <a:moveTo>
                    <a:pt x="0" y="0"/>
                  </a:moveTo>
                  <a:lnTo>
                    <a:pt x="4681126" y="0"/>
                  </a:lnTo>
                  <a:lnTo>
                    <a:pt x="4681126" y="489475"/>
                  </a:lnTo>
                  <a:lnTo>
                    <a:pt x="0" y="489475"/>
                  </a:lnTo>
                  <a:close/>
                </a:path>
              </a:pathLst>
            </a:custGeom>
            <a:solidFill>
              <a:srgbClr val="EAEBE9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4681126" cy="537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12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378767" y="2092240"/>
            <a:ext cx="17909233" cy="60072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07"/>
              </a:lnSpc>
            </a:pPr>
          </a:p>
          <a:p>
            <a:pPr algn="l">
              <a:lnSpc>
                <a:spcPts val="3007"/>
              </a:lnSpc>
            </a:pPr>
            <a:r>
              <a:rPr lang="en-US" sz="2148">
                <a:solidFill>
                  <a:srgbClr val="000000"/>
                </a:solidFill>
                <a:latin typeface="Futura"/>
                <a:ea typeface="Futura"/>
                <a:cs typeface="Futura"/>
                <a:sym typeface="Futura"/>
              </a:rPr>
              <a:t>• • Title: User Registration</a:t>
            </a:r>
          </a:p>
          <a:p>
            <a:pPr algn="l">
              <a:lnSpc>
                <a:spcPts val="3007"/>
              </a:lnSpc>
            </a:pPr>
            <a:r>
              <a:rPr lang="en-US" sz="2148">
                <a:solidFill>
                  <a:srgbClr val="000000"/>
                </a:solidFill>
                <a:latin typeface="Futura"/>
                <a:ea typeface="Futura"/>
                <a:cs typeface="Futura"/>
                <a:sym typeface="Futura"/>
              </a:rPr>
              <a:t> Description: As a user, I want to register using my email or phone number so that I can access the system.</a:t>
            </a:r>
          </a:p>
          <a:p>
            <a:pPr algn="l">
              <a:lnSpc>
                <a:spcPts val="3007"/>
              </a:lnSpc>
            </a:pPr>
            <a:r>
              <a:rPr lang="en-US" sz="2148">
                <a:solidFill>
                  <a:srgbClr val="000000"/>
                </a:solidFill>
                <a:latin typeface="Futura"/>
                <a:ea typeface="Futura"/>
                <a:cs typeface="Futura"/>
                <a:sym typeface="Futura"/>
              </a:rPr>
              <a:t> Acceptance Criteria:</a:t>
            </a:r>
          </a:p>
          <a:p>
            <a:pPr algn="l">
              <a:lnSpc>
                <a:spcPts val="3007"/>
              </a:lnSpc>
            </a:pPr>
            <a:r>
              <a:rPr lang="en-US" sz="2148">
                <a:solidFill>
                  <a:srgbClr val="000000"/>
                </a:solidFill>
                <a:latin typeface="Futura"/>
                <a:ea typeface="Futura"/>
                <a:cs typeface="Futura"/>
                <a:sym typeface="Futura"/>
              </a:rPr>
              <a:t> - Users can sign up using email or phone.</a:t>
            </a:r>
          </a:p>
          <a:p>
            <a:pPr algn="l">
              <a:lnSpc>
                <a:spcPts val="3007"/>
              </a:lnSpc>
            </a:pPr>
            <a:r>
              <a:rPr lang="en-US" sz="2148">
                <a:solidFill>
                  <a:srgbClr val="000000"/>
                </a:solidFill>
                <a:latin typeface="Futura"/>
                <a:ea typeface="Futura"/>
                <a:cs typeface="Futura"/>
                <a:sym typeface="Futura"/>
              </a:rPr>
              <a:t> - Validation ensures unique email/phone per account.</a:t>
            </a:r>
          </a:p>
          <a:p>
            <a:pPr algn="l">
              <a:lnSpc>
                <a:spcPts val="3007"/>
              </a:lnSpc>
            </a:pPr>
            <a:r>
              <a:rPr lang="en-US" sz="2148">
                <a:solidFill>
                  <a:srgbClr val="000000"/>
                </a:solidFill>
                <a:latin typeface="Futura"/>
                <a:ea typeface="Futura"/>
                <a:cs typeface="Futura"/>
                <a:sym typeface="Futura"/>
              </a:rPr>
              <a:t> - Successful registration redirects users to the dashboard.</a:t>
            </a:r>
          </a:p>
          <a:p>
            <a:pPr algn="l">
              <a:lnSpc>
                <a:spcPts val="3007"/>
              </a:lnSpc>
            </a:pPr>
          </a:p>
          <a:p>
            <a:pPr algn="l">
              <a:lnSpc>
                <a:spcPts val="3007"/>
              </a:lnSpc>
            </a:pPr>
          </a:p>
          <a:p>
            <a:pPr algn="l">
              <a:lnSpc>
                <a:spcPts val="3007"/>
              </a:lnSpc>
            </a:pPr>
            <a:r>
              <a:rPr lang="en-US" sz="2148">
                <a:solidFill>
                  <a:srgbClr val="000000"/>
                </a:solidFill>
                <a:latin typeface="Futura"/>
                <a:ea typeface="Futura"/>
                <a:cs typeface="Futura"/>
                <a:sym typeface="Futura"/>
              </a:rPr>
              <a:t>• • Title: Event Creation and Management</a:t>
            </a:r>
          </a:p>
          <a:p>
            <a:pPr algn="l">
              <a:lnSpc>
                <a:spcPts val="3007"/>
              </a:lnSpc>
            </a:pPr>
            <a:r>
              <a:rPr lang="en-US" sz="2148">
                <a:solidFill>
                  <a:srgbClr val="000000"/>
                </a:solidFill>
                <a:latin typeface="Futura"/>
                <a:ea typeface="Futura"/>
                <a:cs typeface="Futura"/>
                <a:sym typeface="Futura"/>
              </a:rPr>
              <a:t> Description: As an organizer, I want to create, edit, and delete events so that I can manage upcoming events easily.</a:t>
            </a:r>
          </a:p>
          <a:p>
            <a:pPr algn="l">
              <a:lnSpc>
                <a:spcPts val="3007"/>
              </a:lnSpc>
            </a:pPr>
            <a:r>
              <a:rPr lang="en-US" sz="2148">
                <a:solidFill>
                  <a:srgbClr val="000000"/>
                </a:solidFill>
                <a:latin typeface="Futura"/>
                <a:ea typeface="Futura"/>
                <a:cs typeface="Futura"/>
                <a:sym typeface="Futura"/>
              </a:rPr>
              <a:t> Acceptance Criteria:</a:t>
            </a:r>
          </a:p>
          <a:p>
            <a:pPr algn="l">
              <a:lnSpc>
                <a:spcPts val="3007"/>
              </a:lnSpc>
            </a:pPr>
            <a:r>
              <a:rPr lang="en-US" sz="2148">
                <a:solidFill>
                  <a:srgbClr val="000000"/>
                </a:solidFill>
                <a:latin typeface="Futura"/>
                <a:ea typeface="Futura"/>
                <a:cs typeface="Futura"/>
                <a:sym typeface="Futura"/>
              </a:rPr>
              <a:t> - Organizers can add new events with all details (name, date, location, capacity).</a:t>
            </a:r>
          </a:p>
          <a:p>
            <a:pPr algn="l">
              <a:lnSpc>
                <a:spcPts val="3007"/>
              </a:lnSpc>
            </a:pPr>
            <a:r>
              <a:rPr lang="en-US" sz="2148">
                <a:solidFill>
                  <a:srgbClr val="000000"/>
                </a:solidFill>
                <a:latin typeface="Futura"/>
                <a:ea typeface="Futura"/>
                <a:cs typeface="Futura"/>
                <a:sym typeface="Futura"/>
              </a:rPr>
              <a:t> - Organizers can edit or delete their events.</a:t>
            </a:r>
          </a:p>
          <a:p>
            <a:pPr algn="l">
              <a:lnSpc>
                <a:spcPts val="3007"/>
              </a:lnSpc>
            </a:pPr>
            <a:r>
              <a:rPr lang="en-US" sz="2148">
                <a:solidFill>
                  <a:srgbClr val="000000"/>
                </a:solidFill>
                <a:latin typeface="Futura"/>
                <a:ea typeface="Futura"/>
                <a:cs typeface="Futura"/>
                <a:sym typeface="Futura"/>
              </a:rPr>
              <a:t> - System validates that required fields are filled before </a:t>
            </a:r>
          </a:p>
          <a:p>
            <a:pPr algn="l">
              <a:lnSpc>
                <a:spcPts val="3007"/>
              </a:lnSpc>
            </a:pPr>
          </a:p>
        </p:txBody>
      </p:sp>
      <p:grpSp>
        <p:nvGrpSpPr>
          <p:cNvPr name="Group 6" id="6"/>
          <p:cNvGrpSpPr/>
          <p:nvPr/>
        </p:nvGrpSpPr>
        <p:grpSpPr>
          <a:xfrm rot="-5400000">
            <a:off x="5356600" y="-3362206"/>
            <a:ext cx="1113790" cy="8298874"/>
            <a:chOff x="0" y="0"/>
            <a:chExt cx="1485053" cy="11065165"/>
          </a:xfrm>
        </p:grpSpPr>
        <p:grpSp>
          <p:nvGrpSpPr>
            <p:cNvPr name="Group 7" id="7"/>
            <p:cNvGrpSpPr/>
            <p:nvPr/>
          </p:nvGrpSpPr>
          <p:grpSpPr>
            <a:xfrm rot="0">
              <a:off x="516188" y="0"/>
              <a:ext cx="968865" cy="968865"/>
              <a:chOff x="0" y="0"/>
              <a:chExt cx="812800" cy="812800"/>
            </a:xfrm>
          </p:grpSpPr>
          <p:sp>
            <p:nvSpPr>
              <p:cNvPr name="Freeform 8" id="8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BBC8B1"/>
              </a:solidFill>
            </p:spPr>
          </p:sp>
          <p:sp>
            <p:nvSpPr>
              <p:cNvPr name="TextBox 9" id="9"/>
              <p:cNvSpPr txBox="true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012"/>
                  </a:lnSpc>
                </a:pPr>
              </a:p>
            </p:txBody>
          </p:sp>
        </p:grpSp>
        <p:sp>
          <p:nvSpPr>
            <p:cNvPr name="TextBox 10" id="10"/>
            <p:cNvSpPr txBox="true"/>
            <p:nvPr/>
          </p:nvSpPr>
          <p:spPr>
            <a:xfrm rot="5400000">
              <a:off x="-3876775" y="5569986"/>
              <a:ext cx="9371954" cy="161840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4759"/>
                </a:lnSpc>
                <a:spcBef>
                  <a:spcPct val="0"/>
                </a:spcBef>
              </a:pPr>
              <a:r>
                <a:rPr lang="en-US" sz="3399" i="true">
                  <a:solidFill>
                    <a:srgbClr val="465739"/>
                  </a:solidFill>
                  <a:latin typeface="Futura Italics"/>
                  <a:ea typeface="Futura Italics"/>
                  <a:cs typeface="Futura Italics"/>
                  <a:sym typeface="Futura Italics"/>
                </a:rPr>
                <a:t>Selected Product Backlog Items (with Acceptance Criteria)</a:t>
              </a:r>
            </a:p>
          </p:txBody>
        </p:sp>
      </p:grp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514350" y="-514350"/>
            <a:ext cx="17773650" cy="1858476"/>
            <a:chOff x="0" y="0"/>
            <a:chExt cx="4681126" cy="48947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681126" cy="489475"/>
            </a:xfrm>
            <a:custGeom>
              <a:avLst/>
              <a:gdLst/>
              <a:ahLst/>
              <a:cxnLst/>
              <a:rect r="r" b="b" t="t" l="l"/>
              <a:pathLst>
                <a:path h="489475" w="4681126">
                  <a:moveTo>
                    <a:pt x="0" y="0"/>
                  </a:moveTo>
                  <a:lnTo>
                    <a:pt x="4681126" y="0"/>
                  </a:lnTo>
                  <a:lnTo>
                    <a:pt x="4681126" y="489475"/>
                  </a:lnTo>
                  <a:lnTo>
                    <a:pt x="0" y="489475"/>
                  </a:lnTo>
                  <a:close/>
                </a:path>
              </a:pathLst>
            </a:custGeom>
            <a:solidFill>
              <a:srgbClr val="EAEBE9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4681126" cy="537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12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777940" y="2278696"/>
            <a:ext cx="17909233" cy="60072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07"/>
              </a:lnSpc>
            </a:pPr>
          </a:p>
          <a:p>
            <a:pPr algn="l">
              <a:lnSpc>
                <a:spcPts val="3007"/>
              </a:lnSpc>
            </a:pPr>
            <a:r>
              <a:rPr lang="en-US" sz="2148">
                <a:solidFill>
                  <a:srgbClr val="000000"/>
                </a:solidFill>
                <a:latin typeface="Futura"/>
                <a:ea typeface="Futura"/>
                <a:cs typeface="Futura"/>
                <a:sym typeface="Futura"/>
              </a:rPr>
              <a:t>• • Title: Ticket Management</a:t>
            </a:r>
          </a:p>
          <a:p>
            <a:pPr algn="l">
              <a:lnSpc>
                <a:spcPts val="3007"/>
              </a:lnSpc>
            </a:pPr>
            <a:r>
              <a:rPr lang="en-US" sz="2148">
                <a:solidFill>
                  <a:srgbClr val="000000"/>
                </a:solidFill>
                <a:latin typeface="Futura"/>
                <a:ea typeface="Futura"/>
                <a:cs typeface="Futura"/>
                <a:sym typeface="Futura"/>
              </a:rPr>
              <a:t> Description: As an organizer, I want to define ticket types and capacities so that attendees can choose suitable tickets.</a:t>
            </a:r>
          </a:p>
          <a:p>
            <a:pPr algn="l">
              <a:lnSpc>
                <a:spcPts val="3007"/>
              </a:lnSpc>
            </a:pPr>
            <a:r>
              <a:rPr lang="en-US" sz="2148">
                <a:solidFill>
                  <a:srgbClr val="000000"/>
                </a:solidFill>
                <a:latin typeface="Futura"/>
                <a:ea typeface="Futura"/>
                <a:cs typeface="Futura"/>
                <a:sym typeface="Futura"/>
              </a:rPr>
              <a:t> Acceptance Criteria:</a:t>
            </a:r>
          </a:p>
          <a:p>
            <a:pPr algn="l">
              <a:lnSpc>
                <a:spcPts val="3007"/>
              </a:lnSpc>
            </a:pPr>
            <a:r>
              <a:rPr lang="en-US" sz="2148">
                <a:solidFill>
                  <a:srgbClr val="000000"/>
                </a:solidFill>
                <a:latin typeface="Futura"/>
                <a:ea typeface="Futura"/>
                <a:cs typeface="Futura"/>
                <a:sym typeface="Futura"/>
              </a:rPr>
              <a:t>  - Organizers can create multiple ticket types (VIP, Regular, Free).</a:t>
            </a:r>
          </a:p>
          <a:p>
            <a:pPr algn="l">
              <a:lnSpc>
                <a:spcPts val="3007"/>
              </a:lnSpc>
            </a:pPr>
            <a:r>
              <a:rPr lang="en-US" sz="2148">
                <a:solidFill>
                  <a:srgbClr val="000000"/>
                </a:solidFill>
                <a:latin typeface="Futura"/>
                <a:ea typeface="Futura"/>
                <a:cs typeface="Futura"/>
                <a:sym typeface="Futura"/>
              </a:rPr>
              <a:t>  - Ticket limits are enforced according to event capacity.</a:t>
            </a:r>
          </a:p>
          <a:p>
            <a:pPr algn="l">
              <a:lnSpc>
                <a:spcPts val="3007"/>
              </a:lnSpc>
            </a:pPr>
            <a:r>
              <a:rPr lang="en-US" sz="2148">
                <a:solidFill>
                  <a:srgbClr val="000000"/>
                </a:solidFill>
                <a:latin typeface="Futura"/>
                <a:ea typeface="Futura"/>
                <a:cs typeface="Futura"/>
                <a:sym typeface="Futura"/>
              </a:rPr>
              <a:t>  - System updates available tickets dynamically when attendees register.</a:t>
            </a:r>
          </a:p>
          <a:p>
            <a:pPr algn="l">
              <a:lnSpc>
                <a:spcPts val="3007"/>
              </a:lnSpc>
            </a:pPr>
          </a:p>
          <a:p>
            <a:pPr algn="l">
              <a:lnSpc>
                <a:spcPts val="3007"/>
              </a:lnSpc>
            </a:pPr>
            <a:r>
              <a:rPr lang="en-US" sz="2148">
                <a:solidFill>
                  <a:srgbClr val="000000"/>
                </a:solidFill>
                <a:latin typeface="Futura"/>
                <a:ea typeface="Futura"/>
                <a:cs typeface="Futura"/>
                <a:sym typeface="Futura"/>
              </a:rPr>
              <a:t>• • Title: QR Code Check-in</a:t>
            </a:r>
          </a:p>
          <a:p>
            <a:pPr algn="l">
              <a:lnSpc>
                <a:spcPts val="3007"/>
              </a:lnSpc>
            </a:pPr>
            <a:r>
              <a:rPr lang="en-US" sz="2148">
                <a:solidFill>
                  <a:srgbClr val="000000"/>
                </a:solidFill>
                <a:latin typeface="Futura"/>
                <a:ea typeface="Futura"/>
                <a:cs typeface="Futura"/>
                <a:sym typeface="Futura"/>
              </a:rPr>
              <a:t> Description: As an attendee, I want to receive a QR code for my ticket so that I can check in quickly at the event.</a:t>
            </a:r>
          </a:p>
          <a:p>
            <a:pPr algn="l">
              <a:lnSpc>
                <a:spcPts val="3007"/>
              </a:lnSpc>
            </a:pPr>
            <a:r>
              <a:rPr lang="en-US" sz="2148">
                <a:solidFill>
                  <a:srgbClr val="000000"/>
                </a:solidFill>
                <a:latin typeface="Futura"/>
                <a:ea typeface="Futura"/>
                <a:cs typeface="Futura"/>
                <a:sym typeface="Futura"/>
              </a:rPr>
              <a:t> Acceptance Criteria:</a:t>
            </a:r>
          </a:p>
          <a:p>
            <a:pPr algn="l">
              <a:lnSpc>
                <a:spcPts val="3007"/>
              </a:lnSpc>
            </a:pPr>
            <a:r>
              <a:rPr lang="en-US" sz="2148">
                <a:solidFill>
                  <a:srgbClr val="000000"/>
                </a:solidFill>
                <a:latin typeface="Futura"/>
                <a:ea typeface="Futura"/>
                <a:cs typeface="Futura"/>
                <a:sym typeface="Futura"/>
              </a:rPr>
              <a:t>  - System generates a unique QR code for each registration.</a:t>
            </a:r>
          </a:p>
          <a:p>
            <a:pPr algn="l">
              <a:lnSpc>
                <a:spcPts val="3007"/>
              </a:lnSpc>
            </a:pPr>
            <a:r>
              <a:rPr lang="en-US" sz="2148">
                <a:solidFill>
                  <a:srgbClr val="000000"/>
                </a:solidFill>
                <a:latin typeface="Futura"/>
                <a:ea typeface="Futura"/>
                <a:cs typeface="Futura"/>
                <a:sym typeface="Futura"/>
              </a:rPr>
              <a:t>  - The QR code contains ticket ID and user info.</a:t>
            </a:r>
          </a:p>
          <a:p>
            <a:pPr algn="l">
              <a:lnSpc>
                <a:spcPts val="3007"/>
              </a:lnSpc>
            </a:pPr>
            <a:r>
              <a:rPr lang="en-US" sz="2148">
                <a:solidFill>
                  <a:srgbClr val="000000"/>
                </a:solidFill>
                <a:latin typeface="Futura"/>
                <a:ea typeface="Futura"/>
                <a:cs typeface="Futura"/>
                <a:sym typeface="Futura"/>
              </a:rPr>
              <a:t>  - Event staff can scan the QR code to mark attendance.</a:t>
            </a:r>
          </a:p>
          <a:p>
            <a:pPr algn="l">
              <a:lnSpc>
                <a:spcPts val="3007"/>
              </a:lnSpc>
            </a:pPr>
          </a:p>
          <a:p>
            <a:pPr algn="l">
              <a:lnSpc>
                <a:spcPts val="3007"/>
              </a:lnSpc>
            </a:pPr>
          </a:p>
        </p:txBody>
      </p:sp>
      <p:grpSp>
        <p:nvGrpSpPr>
          <p:cNvPr name="Group 6" id="6"/>
          <p:cNvGrpSpPr/>
          <p:nvPr/>
        </p:nvGrpSpPr>
        <p:grpSpPr>
          <a:xfrm rot="-5400000">
            <a:off x="5356600" y="-3362206"/>
            <a:ext cx="1113790" cy="8298874"/>
            <a:chOff x="0" y="0"/>
            <a:chExt cx="1485053" cy="11065165"/>
          </a:xfrm>
        </p:grpSpPr>
        <p:grpSp>
          <p:nvGrpSpPr>
            <p:cNvPr name="Group 7" id="7"/>
            <p:cNvGrpSpPr/>
            <p:nvPr/>
          </p:nvGrpSpPr>
          <p:grpSpPr>
            <a:xfrm rot="0">
              <a:off x="516188" y="0"/>
              <a:ext cx="968865" cy="968865"/>
              <a:chOff x="0" y="0"/>
              <a:chExt cx="812800" cy="812800"/>
            </a:xfrm>
          </p:grpSpPr>
          <p:sp>
            <p:nvSpPr>
              <p:cNvPr name="Freeform 8" id="8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BBC8B1"/>
              </a:solidFill>
            </p:spPr>
          </p:sp>
          <p:sp>
            <p:nvSpPr>
              <p:cNvPr name="TextBox 9" id="9"/>
              <p:cNvSpPr txBox="true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012"/>
                  </a:lnSpc>
                </a:pPr>
              </a:p>
            </p:txBody>
          </p:sp>
        </p:grpSp>
        <p:sp>
          <p:nvSpPr>
            <p:cNvPr name="TextBox 10" id="10"/>
            <p:cNvSpPr txBox="true"/>
            <p:nvPr/>
          </p:nvSpPr>
          <p:spPr>
            <a:xfrm rot="5400000">
              <a:off x="-3876775" y="5569986"/>
              <a:ext cx="9371954" cy="161840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4759"/>
                </a:lnSpc>
                <a:spcBef>
                  <a:spcPct val="0"/>
                </a:spcBef>
              </a:pPr>
              <a:r>
                <a:rPr lang="en-US" sz="3399" i="true">
                  <a:solidFill>
                    <a:srgbClr val="465739"/>
                  </a:solidFill>
                  <a:latin typeface="Futura Italics"/>
                  <a:ea typeface="Futura Italics"/>
                  <a:cs typeface="Futura Italics"/>
                  <a:sym typeface="Futura Italics"/>
                </a:rPr>
                <a:t>Selected Product Backlog Items (with Acceptance Criteria)</a:t>
              </a:r>
            </a:p>
          </p:txBody>
        </p:sp>
      </p:grp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514350" y="-514350"/>
            <a:ext cx="17773650" cy="1858476"/>
            <a:chOff x="0" y="0"/>
            <a:chExt cx="4681126" cy="48947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681126" cy="489475"/>
            </a:xfrm>
            <a:custGeom>
              <a:avLst/>
              <a:gdLst/>
              <a:ahLst/>
              <a:cxnLst/>
              <a:rect r="r" b="b" t="t" l="l"/>
              <a:pathLst>
                <a:path h="489475" w="4681126">
                  <a:moveTo>
                    <a:pt x="0" y="0"/>
                  </a:moveTo>
                  <a:lnTo>
                    <a:pt x="4681126" y="0"/>
                  </a:lnTo>
                  <a:lnTo>
                    <a:pt x="4681126" y="489475"/>
                  </a:lnTo>
                  <a:lnTo>
                    <a:pt x="0" y="489475"/>
                  </a:lnTo>
                  <a:close/>
                </a:path>
              </a:pathLst>
            </a:custGeom>
            <a:solidFill>
              <a:srgbClr val="EAEBE9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4681126" cy="537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12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1028700" y="2711878"/>
            <a:ext cx="18931724" cy="51621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79"/>
              </a:lnSpc>
            </a:pPr>
          </a:p>
          <a:p>
            <a:pPr algn="l">
              <a:lnSpc>
                <a:spcPts val="3179"/>
              </a:lnSpc>
            </a:pPr>
          </a:p>
          <a:p>
            <a:pPr algn="l">
              <a:lnSpc>
                <a:spcPts val="3179"/>
              </a:lnSpc>
            </a:pPr>
            <a:r>
              <a:rPr lang="en-US" sz="2271">
                <a:solidFill>
                  <a:srgbClr val="000000"/>
                </a:solidFill>
                <a:latin typeface="Futura"/>
                <a:ea typeface="Futura"/>
                <a:cs typeface="Futura"/>
                <a:sym typeface="Futura"/>
              </a:rPr>
              <a:t>User Story 2 – Original (L)</a:t>
            </a:r>
          </a:p>
          <a:p>
            <a:pPr algn="l">
              <a:lnSpc>
                <a:spcPts val="3179"/>
              </a:lnSpc>
            </a:pPr>
          </a:p>
          <a:p>
            <a:pPr algn="l">
              <a:lnSpc>
                <a:spcPts val="3179"/>
              </a:lnSpc>
            </a:pPr>
            <a:r>
              <a:rPr lang="en-US" sz="2271">
                <a:solidFill>
                  <a:srgbClr val="000000"/>
                </a:solidFill>
                <a:latin typeface="Futura"/>
                <a:ea typeface="Futura"/>
                <a:cs typeface="Futura"/>
                <a:sym typeface="Futura"/>
              </a:rPr>
              <a:t>Original:</a:t>
            </a:r>
          </a:p>
          <a:p>
            <a:pPr algn="l">
              <a:lnSpc>
                <a:spcPts val="3179"/>
              </a:lnSpc>
            </a:pPr>
            <a:r>
              <a:rPr lang="en-US" sz="2271">
                <a:solidFill>
                  <a:srgbClr val="000000"/>
                </a:solidFill>
                <a:latin typeface="Futura"/>
                <a:ea typeface="Futura"/>
                <a:cs typeface="Futura"/>
                <a:sym typeface="Futura"/>
              </a:rPr>
              <a:t>As an organizer, I want to create, edit, and delete events so that I can manage upcoming events easily.</a:t>
            </a:r>
          </a:p>
          <a:p>
            <a:pPr algn="l">
              <a:lnSpc>
                <a:spcPts val="3179"/>
              </a:lnSpc>
            </a:pPr>
            <a:r>
              <a:rPr lang="en-US" sz="2271">
                <a:solidFill>
                  <a:srgbClr val="000000"/>
                </a:solidFill>
                <a:latin typeface="Futura"/>
                <a:ea typeface="Futura"/>
                <a:cs typeface="Futura"/>
                <a:sym typeface="Futura"/>
              </a:rPr>
              <a:t>(Size: L)</a:t>
            </a:r>
          </a:p>
          <a:p>
            <a:pPr algn="l">
              <a:lnSpc>
                <a:spcPts val="3179"/>
              </a:lnSpc>
            </a:pPr>
          </a:p>
          <a:p>
            <a:pPr algn="l">
              <a:lnSpc>
                <a:spcPts val="3179"/>
              </a:lnSpc>
            </a:pPr>
            <a:r>
              <a:rPr lang="en-US" sz="2271">
                <a:solidFill>
                  <a:srgbClr val="000000"/>
                </a:solidFill>
                <a:latin typeface="Futura"/>
                <a:ea typeface="Futura"/>
                <a:cs typeface="Futura"/>
                <a:sym typeface="Futura"/>
              </a:rPr>
              <a:t>Revised (split into smaller stories):</a:t>
            </a:r>
          </a:p>
          <a:p>
            <a:pPr algn="l">
              <a:lnSpc>
                <a:spcPts val="3179"/>
              </a:lnSpc>
            </a:pPr>
            <a:r>
              <a:rPr lang="en-US" sz="2271">
                <a:solidFill>
                  <a:srgbClr val="000000"/>
                </a:solidFill>
                <a:latin typeface="Futura"/>
                <a:ea typeface="Futura"/>
                <a:cs typeface="Futura"/>
                <a:sym typeface="Futura"/>
              </a:rPr>
              <a:t>• (S) As an organizer, I want to create a new event so that I can add it to the system.</a:t>
            </a:r>
          </a:p>
          <a:p>
            <a:pPr algn="l">
              <a:lnSpc>
                <a:spcPts val="3179"/>
              </a:lnSpc>
            </a:pPr>
            <a:r>
              <a:rPr lang="en-US" sz="2271">
                <a:solidFill>
                  <a:srgbClr val="000000"/>
                </a:solidFill>
                <a:latin typeface="Futura"/>
                <a:ea typeface="Futura"/>
                <a:cs typeface="Futura"/>
                <a:sym typeface="Futura"/>
              </a:rPr>
              <a:t>• (S) As an organizer, I want to edit existing event details so that I can update event information.</a:t>
            </a:r>
          </a:p>
          <a:p>
            <a:pPr algn="l">
              <a:lnSpc>
                <a:spcPts val="3179"/>
              </a:lnSpc>
            </a:pPr>
            <a:r>
              <a:rPr lang="en-US" sz="2271">
                <a:solidFill>
                  <a:srgbClr val="000000"/>
                </a:solidFill>
                <a:latin typeface="Futura"/>
                <a:ea typeface="Futura"/>
                <a:cs typeface="Futura"/>
                <a:sym typeface="Futura"/>
              </a:rPr>
              <a:t>• (S) As an organizer, I want to delete an event so that I can remove canceled or outdated events.</a:t>
            </a:r>
          </a:p>
          <a:p>
            <a:pPr algn="l">
              <a:lnSpc>
                <a:spcPts val="3179"/>
              </a:lnSpc>
            </a:pPr>
          </a:p>
        </p:txBody>
      </p:sp>
      <p:grpSp>
        <p:nvGrpSpPr>
          <p:cNvPr name="Group 6" id="6"/>
          <p:cNvGrpSpPr/>
          <p:nvPr/>
        </p:nvGrpSpPr>
        <p:grpSpPr>
          <a:xfrm rot="-5400000">
            <a:off x="5400152" y="-3405758"/>
            <a:ext cx="726649" cy="7998836"/>
            <a:chOff x="0" y="0"/>
            <a:chExt cx="968865" cy="10665115"/>
          </a:xfrm>
        </p:grpSpPr>
        <p:grpSp>
          <p:nvGrpSpPr>
            <p:cNvPr name="Group 7" id="7"/>
            <p:cNvGrpSpPr/>
            <p:nvPr/>
          </p:nvGrpSpPr>
          <p:grpSpPr>
            <a:xfrm rot="0">
              <a:off x="0" y="0"/>
              <a:ext cx="968865" cy="968865"/>
              <a:chOff x="0" y="0"/>
              <a:chExt cx="812800" cy="812800"/>
            </a:xfrm>
          </p:grpSpPr>
          <p:sp>
            <p:nvSpPr>
              <p:cNvPr name="Freeform 8" id="8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BBC8B1"/>
              </a:solidFill>
            </p:spPr>
          </p:sp>
          <p:sp>
            <p:nvSpPr>
              <p:cNvPr name="TextBox 9" id="9"/>
              <p:cNvSpPr txBox="true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012"/>
                  </a:lnSpc>
                </a:pPr>
              </a:p>
            </p:txBody>
          </p:sp>
        </p:grpSp>
        <p:sp>
          <p:nvSpPr>
            <p:cNvPr name="TextBox 10" id="10"/>
            <p:cNvSpPr txBox="true"/>
            <p:nvPr/>
          </p:nvSpPr>
          <p:spPr>
            <a:xfrm rot="5400000">
              <a:off x="-3992914" y="5569986"/>
              <a:ext cx="9371954" cy="81830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4759"/>
                </a:lnSpc>
                <a:spcBef>
                  <a:spcPct val="0"/>
                </a:spcBef>
              </a:pPr>
              <a:r>
                <a:rPr lang="en-US" sz="3399" i="true">
                  <a:solidFill>
                    <a:srgbClr val="465739"/>
                  </a:solidFill>
                  <a:latin typeface="Futura Italics"/>
                  <a:ea typeface="Futura Italics"/>
                  <a:cs typeface="Futura Italics"/>
                  <a:sym typeface="Futura Italics"/>
                </a:rPr>
                <a:t>Refine Sizing (Applying INVEST)</a:t>
              </a:r>
            </a:p>
          </p:txBody>
        </p:sp>
      </p:grp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514350" y="-514350"/>
            <a:ext cx="17773650" cy="1858476"/>
            <a:chOff x="0" y="0"/>
            <a:chExt cx="4681126" cy="48947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681126" cy="489475"/>
            </a:xfrm>
            <a:custGeom>
              <a:avLst/>
              <a:gdLst/>
              <a:ahLst/>
              <a:cxnLst/>
              <a:rect r="r" b="b" t="t" l="l"/>
              <a:pathLst>
                <a:path h="489475" w="4681126">
                  <a:moveTo>
                    <a:pt x="0" y="0"/>
                  </a:moveTo>
                  <a:lnTo>
                    <a:pt x="4681126" y="0"/>
                  </a:lnTo>
                  <a:lnTo>
                    <a:pt x="4681126" y="489475"/>
                  </a:lnTo>
                  <a:lnTo>
                    <a:pt x="0" y="489475"/>
                  </a:lnTo>
                  <a:close/>
                </a:path>
              </a:pathLst>
            </a:custGeom>
            <a:solidFill>
              <a:srgbClr val="EAEBE9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4681126" cy="537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12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1028700" y="2711878"/>
            <a:ext cx="18931724" cy="55563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79"/>
              </a:lnSpc>
            </a:pPr>
          </a:p>
          <a:p>
            <a:pPr algn="l">
              <a:lnSpc>
                <a:spcPts val="3179"/>
              </a:lnSpc>
            </a:pPr>
          </a:p>
          <a:p>
            <a:pPr algn="l">
              <a:lnSpc>
                <a:spcPts val="3179"/>
              </a:lnSpc>
            </a:pPr>
            <a:r>
              <a:rPr lang="en-US" sz="2271">
                <a:solidFill>
                  <a:srgbClr val="000000"/>
                </a:solidFill>
                <a:latin typeface="Futura"/>
                <a:ea typeface="Futura"/>
                <a:cs typeface="Futura"/>
                <a:sym typeface="Futura"/>
              </a:rPr>
              <a:t>User Story 3 – Original (L)</a:t>
            </a:r>
          </a:p>
          <a:p>
            <a:pPr algn="l">
              <a:lnSpc>
                <a:spcPts val="3179"/>
              </a:lnSpc>
            </a:pPr>
          </a:p>
          <a:p>
            <a:pPr algn="l">
              <a:lnSpc>
                <a:spcPts val="3179"/>
              </a:lnSpc>
            </a:pPr>
            <a:r>
              <a:rPr lang="en-US" sz="2271">
                <a:solidFill>
                  <a:srgbClr val="000000"/>
                </a:solidFill>
                <a:latin typeface="Futura"/>
                <a:ea typeface="Futura"/>
                <a:cs typeface="Futura"/>
                <a:sym typeface="Futura"/>
              </a:rPr>
              <a:t>Original:</a:t>
            </a:r>
          </a:p>
          <a:p>
            <a:pPr algn="l">
              <a:lnSpc>
                <a:spcPts val="3179"/>
              </a:lnSpc>
            </a:pPr>
            <a:r>
              <a:rPr lang="en-US" sz="2271">
                <a:solidFill>
                  <a:srgbClr val="000000"/>
                </a:solidFill>
                <a:latin typeface="Futura"/>
                <a:ea typeface="Futura"/>
                <a:cs typeface="Futura"/>
                <a:sym typeface="Futura"/>
              </a:rPr>
              <a:t>As an organizer, I want to define ticket types and capacities so that attendees can choose suitable tickets.</a:t>
            </a:r>
          </a:p>
          <a:p>
            <a:pPr algn="l">
              <a:lnSpc>
                <a:spcPts val="3179"/>
              </a:lnSpc>
            </a:pPr>
            <a:r>
              <a:rPr lang="en-US" sz="2271">
                <a:solidFill>
                  <a:srgbClr val="000000"/>
                </a:solidFill>
                <a:latin typeface="Futura"/>
                <a:ea typeface="Futura"/>
                <a:cs typeface="Futura"/>
                <a:sym typeface="Futura"/>
              </a:rPr>
              <a:t>(Size: L)</a:t>
            </a:r>
          </a:p>
          <a:p>
            <a:pPr algn="l">
              <a:lnSpc>
                <a:spcPts val="3179"/>
              </a:lnSpc>
            </a:pPr>
          </a:p>
          <a:p>
            <a:pPr algn="l">
              <a:lnSpc>
                <a:spcPts val="3179"/>
              </a:lnSpc>
            </a:pPr>
            <a:r>
              <a:rPr lang="en-US" sz="2271">
                <a:solidFill>
                  <a:srgbClr val="000000"/>
                </a:solidFill>
                <a:latin typeface="Futura"/>
                <a:ea typeface="Futura"/>
                <a:cs typeface="Futura"/>
                <a:sym typeface="Futura"/>
              </a:rPr>
              <a:t>Revised (split into smaller stories):</a:t>
            </a:r>
          </a:p>
          <a:p>
            <a:pPr algn="l">
              <a:lnSpc>
                <a:spcPts val="3179"/>
              </a:lnSpc>
            </a:pPr>
            <a:r>
              <a:rPr lang="en-US" sz="2271">
                <a:solidFill>
                  <a:srgbClr val="000000"/>
                </a:solidFill>
                <a:latin typeface="Futura"/>
                <a:ea typeface="Futura"/>
                <a:cs typeface="Futura"/>
                <a:sym typeface="Futura"/>
              </a:rPr>
              <a:t>• (S) As an organizer, I want to create multiple ticket types (VIP, Regular, Free) so that I can offer flexible options.</a:t>
            </a:r>
          </a:p>
          <a:p>
            <a:pPr algn="l">
              <a:lnSpc>
                <a:spcPts val="3179"/>
              </a:lnSpc>
            </a:pPr>
            <a:r>
              <a:rPr lang="en-US" sz="2271">
                <a:solidFill>
                  <a:srgbClr val="000000"/>
                </a:solidFill>
                <a:latin typeface="Futura"/>
                <a:ea typeface="Futura"/>
                <a:cs typeface="Futura"/>
                <a:sym typeface="Futura"/>
              </a:rPr>
              <a:t>• (S) As an organizer, I want to set ticket capacity limits so that event attendance stays within venue capacity.</a:t>
            </a:r>
          </a:p>
          <a:p>
            <a:pPr algn="l">
              <a:lnSpc>
                <a:spcPts val="3179"/>
              </a:lnSpc>
            </a:pPr>
            <a:r>
              <a:rPr lang="en-US" sz="2271">
                <a:solidFill>
                  <a:srgbClr val="000000"/>
                </a:solidFill>
                <a:latin typeface="Futura"/>
                <a:ea typeface="Futura"/>
                <a:cs typeface="Futura"/>
                <a:sym typeface="Futura"/>
              </a:rPr>
              <a:t>• (S) As an organizer, I want the system to automatically update available tickets when registrations occur.</a:t>
            </a:r>
          </a:p>
          <a:p>
            <a:pPr algn="l">
              <a:lnSpc>
                <a:spcPts val="3179"/>
              </a:lnSpc>
            </a:pPr>
          </a:p>
          <a:p>
            <a:pPr algn="l">
              <a:lnSpc>
                <a:spcPts val="3179"/>
              </a:lnSpc>
            </a:pPr>
          </a:p>
        </p:txBody>
      </p:sp>
      <p:grpSp>
        <p:nvGrpSpPr>
          <p:cNvPr name="Group 6" id="6"/>
          <p:cNvGrpSpPr/>
          <p:nvPr/>
        </p:nvGrpSpPr>
        <p:grpSpPr>
          <a:xfrm rot="-5400000">
            <a:off x="5400152" y="-3405758"/>
            <a:ext cx="726649" cy="7998836"/>
            <a:chOff x="0" y="0"/>
            <a:chExt cx="968865" cy="10665115"/>
          </a:xfrm>
        </p:grpSpPr>
        <p:grpSp>
          <p:nvGrpSpPr>
            <p:cNvPr name="Group 7" id="7"/>
            <p:cNvGrpSpPr/>
            <p:nvPr/>
          </p:nvGrpSpPr>
          <p:grpSpPr>
            <a:xfrm rot="0">
              <a:off x="0" y="0"/>
              <a:ext cx="968865" cy="968865"/>
              <a:chOff x="0" y="0"/>
              <a:chExt cx="812800" cy="812800"/>
            </a:xfrm>
          </p:grpSpPr>
          <p:sp>
            <p:nvSpPr>
              <p:cNvPr name="Freeform 8" id="8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BBC8B1"/>
              </a:solidFill>
            </p:spPr>
          </p:sp>
          <p:sp>
            <p:nvSpPr>
              <p:cNvPr name="TextBox 9" id="9"/>
              <p:cNvSpPr txBox="true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012"/>
                  </a:lnSpc>
                </a:pPr>
              </a:p>
            </p:txBody>
          </p:sp>
        </p:grpSp>
        <p:sp>
          <p:nvSpPr>
            <p:cNvPr name="TextBox 10" id="10"/>
            <p:cNvSpPr txBox="true"/>
            <p:nvPr/>
          </p:nvSpPr>
          <p:spPr>
            <a:xfrm rot="5400000">
              <a:off x="-3992914" y="5569986"/>
              <a:ext cx="9371954" cy="81830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4759"/>
                </a:lnSpc>
                <a:spcBef>
                  <a:spcPct val="0"/>
                </a:spcBef>
              </a:pPr>
              <a:r>
                <a:rPr lang="en-US" sz="3399" i="true">
                  <a:solidFill>
                    <a:srgbClr val="465739"/>
                  </a:solidFill>
                  <a:latin typeface="Futura Italics"/>
                  <a:ea typeface="Futura Italics"/>
                  <a:cs typeface="Futura Italics"/>
                  <a:sym typeface="Futura Italics"/>
                </a:rPr>
                <a:t>Refine Sizing (Applying INVEST)</a:t>
              </a:r>
            </a:p>
          </p:txBody>
        </p:sp>
      </p:grp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514350" y="-514350"/>
            <a:ext cx="17773650" cy="1858476"/>
            <a:chOff x="0" y="0"/>
            <a:chExt cx="4681126" cy="48947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681126" cy="489475"/>
            </a:xfrm>
            <a:custGeom>
              <a:avLst/>
              <a:gdLst/>
              <a:ahLst/>
              <a:cxnLst/>
              <a:rect r="r" b="b" t="t" l="l"/>
              <a:pathLst>
                <a:path h="489475" w="4681126">
                  <a:moveTo>
                    <a:pt x="0" y="0"/>
                  </a:moveTo>
                  <a:lnTo>
                    <a:pt x="4681126" y="0"/>
                  </a:lnTo>
                  <a:lnTo>
                    <a:pt x="4681126" y="489475"/>
                  </a:lnTo>
                  <a:lnTo>
                    <a:pt x="0" y="489475"/>
                  </a:lnTo>
                  <a:close/>
                </a:path>
              </a:pathLst>
            </a:custGeom>
            <a:solidFill>
              <a:srgbClr val="EAEBE9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4681126" cy="537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12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-5400000">
            <a:off x="5400152" y="-3405758"/>
            <a:ext cx="726649" cy="7998836"/>
            <a:chOff x="0" y="0"/>
            <a:chExt cx="968865" cy="10665115"/>
          </a:xfrm>
        </p:grpSpPr>
        <p:grpSp>
          <p:nvGrpSpPr>
            <p:cNvPr name="Group 6" id="6"/>
            <p:cNvGrpSpPr/>
            <p:nvPr/>
          </p:nvGrpSpPr>
          <p:grpSpPr>
            <a:xfrm rot="0">
              <a:off x="0" y="0"/>
              <a:ext cx="968865" cy="968865"/>
              <a:chOff x="0" y="0"/>
              <a:chExt cx="812800" cy="812800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BBC8B1"/>
              </a:solidFill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012"/>
                  </a:lnSpc>
                </a:pPr>
              </a:p>
            </p:txBody>
          </p:sp>
        </p:grpSp>
        <p:sp>
          <p:nvSpPr>
            <p:cNvPr name="TextBox 9" id="9"/>
            <p:cNvSpPr txBox="true"/>
            <p:nvPr/>
          </p:nvSpPr>
          <p:spPr>
            <a:xfrm rot="5400000">
              <a:off x="-3992914" y="5569986"/>
              <a:ext cx="9371954" cy="81830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4759"/>
                </a:lnSpc>
                <a:spcBef>
                  <a:spcPct val="0"/>
                </a:spcBef>
              </a:pPr>
              <a:r>
                <a:rPr lang="en-US" sz="3399" i="true">
                  <a:solidFill>
                    <a:srgbClr val="465739"/>
                  </a:solidFill>
                  <a:latin typeface="Futura Italics"/>
                  <a:ea typeface="Futura Italics"/>
                  <a:cs typeface="Futura Italics"/>
                  <a:sym typeface="Futura Italics"/>
                </a:rPr>
                <a:t>Daily scrum meeting</a:t>
              </a:r>
            </a:p>
          </p:txBody>
        </p:sp>
      </p:grpSp>
      <p:sp>
        <p:nvSpPr>
          <p:cNvPr name="Freeform 10" id="10"/>
          <p:cNvSpPr/>
          <p:nvPr/>
        </p:nvSpPr>
        <p:spPr>
          <a:xfrm flipH="false" flipV="false" rot="0">
            <a:off x="11542229" y="3726782"/>
            <a:ext cx="6818573" cy="2585992"/>
          </a:xfrm>
          <a:custGeom>
            <a:avLst/>
            <a:gdLst/>
            <a:ahLst/>
            <a:cxnLst/>
            <a:rect r="r" b="b" t="t" l="l"/>
            <a:pathLst>
              <a:path h="2585992" w="6818573">
                <a:moveTo>
                  <a:pt x="0" y="0"/>
                </a:moveTo>
                <a:lnTo>
                  <a:pt x="6818573" y="0"/>
                </a:lnTo>
                <a:lnTo>
                  <a:pt x="6818573" y="2585992"/>
                </a:lnTo>
                <a:lnTo>
                  <a:pt x="0" y="258599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53235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-15276" y="3726782"/>
            <a:ext cx="11557505" cy="2585992"/>
          </a:xfrm>
          <a:custGeom>
            <a:avLst/>
            <a:gdLst/>
            <a:ahLst/>
            <a:cxnLst/>
            <a:rect r="r" b="b" t="t" l="l"/>
            <a:pathLst>
              <a:path h="2585992" w="11557505">
                <a:moveTo>
                  <a:pt x="0" y="0"/>
                </a:moveTo>
                <a:lnTo>
                  <a:pt x="11557505" y="0"/>
                </a:lnTo>
                <a:lnTo>
                  <a:pt x="11557505" y="2585992"/>
                </a:lnTo>
                <a:lnTo>
                  <a:pt x="0" y="258599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514350" y="-514350"/>
            <a:ext cx="17773650" cy="1858476"/>
            <a:chOff x="0" y="0"/>
            <a:chExt cx="4681126" cy="48947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681126" cy="489475"/>
            </a:xfrm>
            <a:custGeom>
              <a:avLst/>
              <a:gdLst/>
              <a:ahLst/>
              <a:cxnLst/>
              <a:rect r="r" b="b" t="t" l="l"/>
              <a:pathLst>
                <a:path h="489475" w="4681126">
                  <a:moveTo>
                    <a:pt x="0" y="0"/>
                  </a:moveTo>
                  <a:lnTo>
                    <a:pt x="4681126" y="0"/>
                  </a:lnTo>
                  <a:lnTo>
                    <a:pt x="4681126" y="489475"/>
                  </a:lnTo>
                  <a:lnTo>
                    <a:pt x="0" y="489475"/>
                  </a:lnTo>
                  <a:close/>
                </a:path>
              </a:pathLst>
            </a:custGeom>
            <a:solidFill>
              <a:srgbClr val="EAEBE9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4681126" cy="537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12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-5400000">
            <a:off x="5400152" y="-3405758"/>
            <a:ext cx="726649" cy="7998836"/>
            <a:chOff x="0" y="0"/>
            <a:chExt cx="968865" cy="10665115"/>
          </a:xfrm>
        </p:grpSpPr>
        <p:grpSp>
          <p:nvGrpSpPr>
            <p:cNvPr name="Group 6" id="6"/>
            <p:cNvGrpSpPr/>
            <p:nvPr/>
          </p:nvGrpSpPr>
          <p:grpSpPr>
            <a:xfrm rot="0">
              <a:off x="0" y="0"/>
              <a:ext cx="968865" cy="968865"/>
              <a:chOff x="0" y="0"/>
              <a:chExt cx="812800" cy="812800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BBC8B1"/>
              </a:solidFill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012"/>
                  </a:lnSpc>
                </a:pPr>
              </a:p>
            </p:txBody>
          </p:sp>
        </p:grpSp>
        <p:sp>
          <p:nvSpPr>
            <p:cNvPr name="TextBox 9" id="9"/>
            <p:cNvSpPr txBox="true"/>
            <p:nvPr/>
          </p:nvSpPr>
          <p:spPr>
            <a:xfrm rot="5400000">
              <a:off x="-3992914" y="5569986"/>
              <a:ext cx="9371954" cy="81830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4759"/>
                </a:lnSpc>
                <a:spcBef>
                  <a:spcPct val="0"/>
                </a:spcBef>
              </a:pPr>
              <a:r>
                <a:rPr lang="en-US" sz="3399" i="true">
                  <a:solidFill>
                    <a:srgbClr val="465739"/>
                  </a:solidFill>
                  <a:latin typeface="Futura Italics"/>
                  <a:ea typeface="Futura Italics"/>
                  <a:cs typeface="Futura Italics"/>
                  <a:sym typeface="Futura Italics"/>
                </a:rPr>
                <a:t>Daily scrum meeting</a:t>
              </a:r>
            </a:p>
          </p:txBody>
        </p:sp>
      </p:grpSp>
      <p:sp>
        <p:nvSpPr>
          <p:cNvPr name="Freeform 10" id="10"/>
          <p:cNvSpPr/>
          <p:nvPr/>
        </p:nvSpPr>
        <p:spPr>
          <a:xfrm flipH="false" flipV="false" rot="0">
            <a:off x="3827983" y="1777889"/>
            <a:ext cx="8658786" cy="8225847"/>
          </a:xfrm>
          <a:custGeom>
            <a:avLst/>
            <a:gdLst/>
            <a:ahLst/>
            <a:cxnLst/>
            <a:rect r="r" b="b" t="t" l="l"/>
            <a:pathLst>
              <a:path h="8225847" w="8658786">
                <a:moveTo>
                  <a:pt x="0" y="0"/>
                </a:moveTo>
                <a:lnTo>
                  <a:pt x="8658787" y="0"/>
                </a:lnTo>
                <a:lnTo>
                  <a:pt x="8658787" y="8225847"/>
                </a:lnTo>
                <a:lnTo>
                  <a:pt x="0" y="822584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630208" y="-514350"/>
            <a:ext cx="17463561" cy="2359140"/>
            <a:chOff x="0" y="0"/>
            <a:chExt cx="4599456" cy="62133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599456" cy="621337"/>
            </a:xfrm>
            <a:custGeom>
              <a:avLst/>
              <a:gdLst/>
              <a:ahLst/>
              <a:cxnLst/>
              <a:rect r="r" b="b" t="t" l="l"/>
              <a:pathLst>
                <a:path h="621337" w="4599456">
                  <a:moveTo>
                    <a:pt x="0" y="0"/>
                  </a:moveTo>
                  <a:lnTo>
                    <a:pt x="4599456" y="0"/>
                  </a:lnTo>
                  <a:lnTo>
                    <a:pt x="4599456" y="621337"/>
                  </a:lnTo>
                  <a:lnTo>
                    <a:pt x="0" y="621337"/>
                  </a:lnTo>
                  <a:close/>
                </a:path>
              </a:pathLst>
            </a:custGeom>
            <a:solidFill>
              <a:srgbClr val="EAEBE9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4599456" cy="66896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12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255159" y="2309775"/>
            <a:ext cx="16004141" cy="6881781"/>
          </a:xfrm>
          <a:custGeom>
            <a:avLst/>
            <a:gdLst/>
            <a:ahLst/>
            <a:cxnLst/>
            <a:rect r="r" b="b" t="t" l="l"/>
            <a:pathLst>
              <a:path h="6881781" w="16004141">
                <a:moveTo>
                  <a:pt x="0" y="0"/>
                </a:moveTo>
                <a:lnTo>
                  <a:pt x="16004141" y="0"/>
                </a:lnTo>
                <a:lnTo>
                  <a:pt x="16004141" y="6881781"/>
                </a:lnTo>
                <a:lnTo>
                  <a:pt x="0" y="688178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-5400000">
            <a:off x="5865957" y="-2674011"/>
            <a:ext cx="657694" cy="7336156"/>
            <a:chOff x="0" y="0"/>
            <a:chExt cx="876925" cy="9781541"/>
          </a:xfrm>
        </p:grpSpPr>
        <p:grpSp>
          <p:nvGrpSpPr>
            <p:cNvPr name="Group 7" id="7"/>
            <p:cNvGrpSpPr/>
            <p:nvPr/>
          </p:nvGrpSpPr>
          <p:grpSpPr>
            <a:xfrm rot="0">
              <a:off x="0" y="0"/>
              <a:ext cx="876925" cy="876925"/>
              <a:chOff x="0" y="0"/>
              <a:chExt cx="812800" cy="812800"/>
            </a:xfrm>
          </p:grpSpPr>
          <p:sp>
            <p:nvSpPr>
              <p:cNvPr name="Freeform 8" id="8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BBC8B1"/>
              </a:solidFill>
            </p:spPr>
          </p:sp>
          <p:sp>
            <p:nvSpPr>
              <p:cNvPr name="TextBox 9" id="9"/>
              <p:cNvSpPr txBox="true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012"/>
                  </a:lnSpc>
                </a:pPr>
              </a:p>
            </p:txBody>
          </p:sp>
        </p:grpSp>
        <p:sp>
          <p:nvSpPr>
            <p:cNvPr name="TextBox 10" id="10"/>
            <p:cNvSpPr txBox="true"/>
            <p:nvPr/>
          </p:nvSpPr>
          <p:spPr>
            <a:xfrm rot="5400000">
              <a:off x="-3717117" y="5016049"/>
              <a:ext cx="8482609" cy="10483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6119"/>
                </a:lnSpc>
                <a:spcBef>
                  <a:spcPct val="0"/>
                </a:spcBef>
              </a:pPr>
              <a:r>
                <a:rPr lang="en-US" sz="4371" i="true">
                  <a:solidFill>
                    <a:srgbClr val="465739"/>
                  </a:solidFill>
                  <a:latin typeface="Futura Italics"/>
                  <a:ea typeface="Futura Italics"/>
                  <a:cs typeface="Futura Italics"/>
                  <a:sym typeface="Futura Italics"/>
                </a:rPr>
                <a:t>BurnDown Chart</a:t>
              </a:r>
            </a:p>
          </p:txBody>
        </p:sp>
      </p:grp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630208" y="-514350"/>
            <a:ext cx="17463561" cy="2359140"/>
            <a:chOff x="0" y="0"/>
            <a:chExt cx="4599456" cy="62133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599456" cy="621337"/>
            </a:xfrm>
            <a:custGeom>
              <a:avLst/>
              <a:gdLst/>
              <a:ahLst/>
              <a:cxnLst/>
              <a:rect r="r" b="b" t="t" l="l"/>
              <a:pathLst>
                <a:path h="621337" w="4599456">
                  <a:moveTo>
                    <a:pt x="0" y="0"/>
                  </a:moveTo>
                  <a:lnTo>
                    <a:pt x="4599456" y="0"/>
                  </a:lnTo>
                  <a:lnTo>
                    <a:pt x="4599456" y="621337"/>
                  </a:lnTo>
                  <a:lnTo>
                    <a:pt x="0" y="621337"/>
                  </a:lnTo>
                  <a:close/>
                </a:path>
              </a:pathLst>
            </a:custGeom>
            <a:solidFill>
              <a:srgbClr val="EAEBE9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4599456" cy="66896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12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-5400000">
            <a:off x="5865957" y="-2674011"/>
            <a:ext cx="657694" cy="7336156"/>
            <a:chOff x="0" y="0"/>
            <a:chExt cx="876925" cy="9781541"/>
          </a:xfrm>
        </p:grpSpPr>
        <p:grpSp>
          <p:nvGrpSpPr>
            <p:cNvPr name="Group 6" id="6"/>
            <p:cNvGrpSpPr/>
            <p:nvPr/>
          </p:nvGrpSpPr>
          <p:grpSpPr>
            <a:xfrm rot="0">
              <a:off x="0" y="0"/>
              <a:ext cx="876925" cy="876925"/>
              <a:chOff x="0" y="0"/>
              <a:chExt cx="812800" cy="812800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BBC8B1"/>
              </a:solidFill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012"/>
                  </a:lnSpc>
                </a:pPr>
              </a:p>
            </p:txBody>
          </p:sp>
        </p:grpSp>
        <p:sp>
          <p:nvSpPr>
            <p:cNvPr name="TextBox 9" id="9"/>
            <p:cNvSpPr txBox="true"/>
            <p:nvPr/>
          </p:nvSpPr>
          <p:spPr>
            <a:xfrm rot="5400000">
              <a:off x="-3717117" y="5016049"/>
              <a:ext cx="8482609" cy="10483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6119"/>
                </a:lnSpc>
                <a:spcBef>
                  <a:spcPct val="0"/>
                </a:spcBef>
              </a:pPr>
              <a:r>
                <a:rPr lang="en-US" sz="4371" i="true">
                  <a:solidFill>
                    <a:srgbClr val="465739"/>
                  </a:solidFill>
                  <a:latin typeface="Futura Italics"/>
                  <a:ea typeface="Futura Italics"/>
                  <a:cs typeface="Futura Italics"/>
                  <a:sym typeface="Futura Italics"/>
                </a:rPr>
                <a:t>Sprint Retrospective </a:t>
              </a:r>
            </a:p>
          </p:txBody>
        </p:sp>
      </p:grpSp>
      <p:sp>
        <p:nvSpPr>
          <p:cNvPr name="Freeform 10" id="10"/>
          <p:cNvSpPr/>
          <p:nvPr/>
        </p:nvSpPr>
        <p:spPr>
          <a:xfrm flipH="false" flipV="false" rot="0">
            <a:off x="251340" y="-362522"/>
            <a:ext cx="14599473" cy="11424088"/>
          </a:xfrm>
          <a:custGeom>
            <a:avLst/>
            <a:gdLst/>
            <a:ahLst/>
            <a:cxnLst/>
            <a:rect r="r" b="b" t="t" l="l"/>
            <a:pathLst>
              <a:path h="11424088" w="14599473">
                <a:moveTo>
                  <a:pt x="0" y="0"/>
                </a:moveTo>
                <a:lnTo>
                  <a:pt x="14599473" y="0"/>
                </a:lnTo>
                <a:lnTo>
                  <a:pt x="14599473" y="11424088"/>
                </a:lnTo>
                <a:lnTo>
                  <a:pt x="0" y="1142408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514350" y="-514350"/>
            <a:ext cx="17773650" cy="1858476"/>
            <a:chOff x="0" y="0"/>
            <a:chExt cx="4681126" cy="48947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681126" cy="489475"/>
            </a:xfrm>
            <a:custGeom>
              <a:avLst/>
              <a:gdLst/>
              <a:ahLst/>
              <a:cxnLst/>
              <a:rect r="r" b="b" t="t" l="l"/>
              <a:pathLst>
                <a:path h="489475" w="4681126">
                  <a:moveTo>
                    <a:pt x="0" y="0"/>
                  </a:moveTo>
                  <a:lnTo>
                    <a:pt x="4681126" y="0"/>
                  </a:lnTo>
                  <a:lnTo>
                    <a:pt x="4681126" y="489475"/>
                  </a:lnTo>
                  <a:lnTo>
                    <a:pt x="0" y="489475"/>
                  </a:lnTo>
                  <a:close/>
                </a:path>
              </a:pathLst>
            </a:custGeom>
            <a:solidFill>
              <a:srgbClr val="EAEBE9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4681126" cy="537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12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1917277" y="2447826"/>
            <a:ext cx="13723249" cy="37591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64"/>
              </a:lnSpc>
            </a:pPr>
          </a:p>
          <a:p>
            <a:pPr algn="l">
              <a:lnSpc>
                <a:spcPts val="4264"/>
              </a:lnSpc>
            </a:pPr>
            <a:r>
              <a:rPr lang="en-US" sz="3046">
                <a:solidFill>
                  <a:srgbClr val="000000"/>
                </a:solidFill>
                <a:latin typeface="Futura"/>
                <a:ea typeface="Futura"/>
                <a:cs typeface="Futura"/>
                <a:sym typeface="Futura"/>
              </a:rPr>
              <a:t>• Code is reviewed and passes all unit tests.</a:t>
            </a:r>
          </a:p>
          <a:p>
            <a:pPr algn="l">
              <a:lnSpc>
                <a:spcPts val="4264"/>
              </a:lnSpc>
            </a:pPr>
            <a:r>
              <a:rPr lang="en-US" sz="3046">
                <a:solidFill>
                  <a:srgbClr val="000000"/>
                </a:solidFill>
                <a:latin typeface="Futura"/>
                <a:ea typeface="Futura"/>
                <a:cs typeface="Futura"/>
                <a:sym typeface="Futura"/>
              </a:rPr>
              <a:t>• All acceptance criteria are met and verified by Product Owner.</a:t>
            </a:r>
          </a:p>
          <a:p>
            <a:pPr algn="l">
              <a:lnSpc>
                <a:spcPts val="4264"/>
              </a:lnSpc>
            </a:pPr>
            <a:r>
              <a:rPr lang="en-US" sz="3046">
                <a:solidFill>
                  <a:srgbClr val="000000"/>
                </a:solidFill>
                <a:latin typeface="Futura"/>
                <a:ea typeface="Futura"/>
                <a:cs typeface="Futura"/>
                <a:sym typeface="Futura"/>
              </a:rPr>
              <a:t>• Documentation and user guides updated.</a:t>
            </a:r>
          </a:p>
          <a:p>
            <a:pPr algn="l">
              <a:lnSpc>
                <a:spcPts val="4264"/>
              </a:lnSpc>
            </a:pPr>
            <a:r>
              <a:rPr lang="en-US" sz="3046">
                <a:solidFill>
                  <a:srgbClr val="000000"/>
                </a:solidFill>
                <a:latin typeface="Futura"/>
                <a:ea typeface="Futura"/>
                <a:cs typeface="Futura"/>
                <a:sym typeface="Futura"/>
              </a:rPr>
              <a:t>• Feature deployed successfully to test environment.</a:t>
            </a:r>
          </a:p>
          <a:p>
            <a:pPr algn="l">
              <a:lnSpc>
                <a:spcPts val="4264"/>
              </a:lnSpc>
            </a:pPr>
            <a:r>
              <a:rPr lang="en-US" sz="3046">
                <a:solidFill>
                  <a:srgbClr val="000000"/>
                </a:solidFill>
                <a:latin typeface="Futura"/>
                <a:ea typeface="Futura"/>
                <a:cs typeface="Futura"/>
                <a:sym typeface="Futura"/>
              </a:rPr>
              <a:t>• No critical bugs remain unresolved</a:t>
            </a:r>
          </a:p>
          <a:p>
            <a:pPr algn="l">
              <a:lnSpc>
                <a:spcPts val="4264"/>
              </a:lnSpc>
            </a:pPr>
          </a:p>
        </p:txBody>
      </p:sp>
      <p:grpSp>
        <p:nvGrpSpPr>
          <p:cNvPr name="Group 6" id="6"/>
          <p:cNvGrpSpPr/>
          <p:nvPr/>
        </p:nvGrpSpPr>
        <p:grpSpPr>
          <a:xfrm rot="-5400000">
            <a:off x="5597015" y="-2968225"/>
            <a:ext cx="657694" cy="7336156"/>
            <a:chOff x="0" y="0"/>
            <a:chExt cx="876925" cy="9781541"/>
          </a:xfrm>
        </p:grpSpPr>
        <p:grpSp>
          <p:nvGrpSpPr>
            <p:cNvPr name="Group 7" id="7"/>
            <p:cNvGrpSpPr/>
            <p:nvPr/>
          </p:nvGrpSpPr>
          <p:grpSpPr>
            <a:xfrm rot="0">
              <a:off x="0" y="0"/>
              <a:ext cx="876925" cy="876925"/>
              <a:chOff x="0" y="0"/>
              <a:chExt cx="812800" cy="812800"/>
            </a:xfrm>
          </p:grpSpPr>
          <p:sp>
            <p:nvSpPr>
              <p:cNvPr name="Freeform 8" id="8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BBC8B1"/>
              </a:solidFill>
            </p:spPr>
          </p:sp>
          <p:sp>
            <p:nvSpPr>
              <p:cNvPr name="TextBox 9" id="9"/>
              <p:cNvSpPr txBox="true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012"/>
                  </a:lnSpc>
                </a:pPr>
              </a:p>
            </p:txBody>
          </p:sp>
        </p:grpSp>
        <p:sp>
          <p:nvSpPr>
            <p:cNvPr name="TextBox 10" id="10"/>
            <p:cNvSpPr txBox="true"/>
            <p:nvPr/>
          </p:nvSpPr>
          <p:spPr>
            <a:xfrm rot="5400000">
              <a:off x="-3717117" y="5016049"/>
              <a:ext cx="8482609" cy="10483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6119"/>
                </a:lnSpc>
                <a:spcBef>
                  <a:spcPct val="0"/>
                </a:spcBef>
              </a:pPr>
              <a:r>
                <a:rPr lang="en-US" sz="4371" i="true">
                  <a:solidFill>
                    <a:srgbClr val="465739"/>
                  </a:solidFill>
                  <a:latin typeface="Futura Italics"/>
                  <a:ea typeface="Futura Italics"/>
                  <a:cs typeface="Futura Italics"/>
                  <a:sym typeface="Futura Italics"/>
                </a:rPr>
                <a:t>Definition of Done (DoD)</a:t>
              </a:r>
            </a:p>
          </p:txBody>
        </p:sp>
      </p:grp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514350" y="-514350"/>
            <a:ext cx="17773650" cy="1858476"/>
            <a:chOff x="0" y="0"/>
            <a:chExt cx="4681126" cy="48947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681126" cy="489475"/>
            </a:xfrm>
            <a:custGeom>
              <a:avLst/>
              <a:gdLst/>
              <a:ahLst/>
              <a:cxnLst/>
              <a:rect r="r" b="b" t="t" l="l"/>
              <a:pathLst>
                <a:path h="489475" w="4681126">
                  <a:moveTo>
                    <a:pt x="0" y="0"/>
                  </a:moveTo>
                  <a:lnTo>
                    <a:pt x="4681126" y="0"/>
                  </a:lnTo>
                  <a:lnTo>
                    <a:pt x="4681126" y="489475"/>
                  </a:lnTo>
                  <a:lnTo>
                    <a:pt x="0" y="489475"/>
                  </a:lnTo>
                  <a:close/>
                </a:path>
              </a:pathLst>
            </a:custGeom>
            <a:solidFill>
              <a:srgbClr val="EAEBE9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4681126" cy="537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12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1028700" y="3055107"/>
            <a:ext cx="16370723" cy="32222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87"/>
              </a:lnSpc>
            </a:pPr>
            <a:r>
              <a:rPr lang="en-US" sz="3633">
                <a:solidFill>
                  <a:srgbClr val="000000"/>
                </a:solidFill>
                <a:latin typeface="Futura"/>
                <a:ea typeface="Futura"/>
                <a:cs typeface="Futura"/>
                <a:sym typeface="Futura"/>
              </a:rPr>
              <a:t>Sprint 1 was successful in meeting its objectives and delivering a functional version of the Eventure system. The team demonstrated strong collaboration, adherence to Scrum principles, and effective communication throughout the sprint. The foundation is now set for Sprint 2 to build upon this success and expand the platform’s capabilities.</a:t>
            </a:r>
          </a:p>
        </p:txBody>
      </p:sp>
      <p:grpSp>
        <p:nvGrpSpPr>
          <p:cNvPr name="Group 6" id="6"/>
          <p:cNvGrpSpPr/>
          <p:nvPr/>
        </p:nvGrpSpPr>
        <p:grpSpPr>
          <a:xfrm rot="-5400000">
            <a:off x="5865957" y="-2674011"/>
            <a:ext cx="657694" cy="7336156"/>
            <a:chOff x="0" y="0"/>
            <a:chExt cx="876925" cy="9781541"/>
          </a:xfrm>
        </p:grpSpPr>
        <p:grpSp>
          <p:nvGrpSpPr>
            <p:cNvPr name="Group 7" id="7"/>
            <p:cNvGrpSpPr/>
            <p:nvPr/>
          </p:nvGrpSpPr>
          <p:grpSpPr>
            <a:xfrm rot="0">
              <a:off x="0" y="0"/>
              <a:ext cx="876925" cy="876925"/>
              <a:chOff x="0" y="0"/>
              <a:chExt cx="812800" cy="812800"/>
            </a:xfrm>
          </p:grpSpPr>
          <p:sp>
            <p:nvSpPr>
              <p:cNvPr name="Freeform 8" id="8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BBC8B1"/>
              </a:solidFill>
            </p:spPr>
          </p:sp>
          <p:sp>
            <p:nvSpPr>
              <p:cNvPr name="TextBox 9" id="9"/>
              <p:cNvSpPr txBox="true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012"/>
                  </a:lnSpc>
                </a:pPr>
              </a:p>
            </p:txBody>
          </p:sp>
        </p:grpSp>
        <p:sp>
          <p:nvSpPr>
            <p:cNvPr name="TextBox 10" id="10"/>
            <p:cNvSpPr txBox="true"/>
            <p:nvPr/>
          </p:nvSpPr>
          <p:spPr>
            <a:xfrm rot="5400000">
              <a:off x="-3717117" y="5016049"/>
              <a:ext cx="8482609" cy="10483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6119"/>
                </a:lnSpc>
                <a:spcBef>
                  <a:spcPct val="0"/>
                </a:spcBef>
              </a:pPr>
              <a:r>
                <a:rPr lang="en-US" sz="4371" i="true">
                  <a:solidFill>
                    <a:srgbClr val="465739"/>
                  </a:solidFill>
                  <a:latin typeface="Futura Italics"/>
                  <a:ea typeface="Futura Italics"/>
                  <a:cs typeface="Futura Italics"/>
                  <a:sym typeface="Futura Italics"/>
                </a:rPr>
                <a:t>Summary </a:t>
              </a:r>
            </a:p>
          </p:txBody>
        </p:sp>
      </p:grp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792370" y="792370"/>
            <a:ext cx="472661" cy="472661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BBC8B1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12"/>
                </a:lnSpc>
              </a:pPr>
            </a:p>
          </p:txBody>
        </p:sp>
      </p:grpSp>
      <p:sp>
        <p:nvSpPr>
          <p:cNvPr name="AutoShape 5" id="5"/>
          <p:cNvSpPr/>
          <p:nvPr/>
        </p:nvSpPr>
        <p:spPr>
          <a:xfrm>
            <a:off x="17364075" y="6915141"/>
            <a:ext cx="0" cy="2610617"/>
          </a:xfrm>
          <a:prstGeom prst="line">
            <a:avLst/>
          </a:prstGeom>
          <a:ln cap="flat" w="123825">
            <a:solidFill>
              <a:srgbClr val="BBC8B1"/>
            </a:solidFill>
            <a:prstDash val="sysDot"/>
            <a:headEnd type="none" len="sm" w="sm"/>
            <a:tailEnd type="none" len="sm" w="sm"/>
          </a:ln>
        </p:spPr>
      </p:sp>
      <p:grpSp>
        <p:nvGrpSpPr>
          <p:cNvPr name="Group 6" id="6"/>
          <p:cNvGrpSpPr/>
          <p:nvPr/>
        </p:nvGrpSpPr>
        <p:grpSpPr>
          <a:xfrm rot="0">
            <a:off x="13756206" y="-514350"/>
            <a:ext cx="6163724" cy="3086100"/>
            <a:chOff x="0" y="0"/>
            <a:chExt cx="1623368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623368" cy="812800"/>
            </a:xfrm>
            <a:custGeom>
              <a:avLst/>
              <a:gdLst/>
              <a:ahLst/>
              <a:cxnLst/>
              <a:rect r="r" b="b" t="t" l="l"/>
              <a:pathLst>
                <a:path h="812800" w="1623368">
                  <a:moveTo>
                    <a:pt x="0" y="0"/>
                  </a:moveTo>
                  <a:lnTo>
                    <a:pt x="1623368" y="0"/>
                  </a:lnTo>
                  <a:lnTo>
                    <a:pt x="1623368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EAEBE9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47625"/>
              <a:ext cx="1623368" cy="8604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12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-2582136" y="8362283"/>
            <a:ext cx="7059741" cy="3086100"/>
            <a:chOff x="0" y="0"/>
            <a:chExt cx="1859356" cy="8128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859356" cy="812800"/>
            </a:xfrm>
            <a:custGeom>
              <a:avLst/>
              <a:gdLst/>
              <a:ahLst/>
              <a:cxnLst/>
              <a:rect r="r" b="b" t="t" l="l"/>
              <a:pathLst>
                <a:path h="812800" w="1859356">
                  <a:moveTo>
                    <a:pt x="0" y="0"/>
                  </a:moveTo>
                  <a:lnTo>
                    <a:pt x="1859356" y="0"/>
                  </a:lnTo>
                  <a:lnTo>
                    <a:pt x="1859356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EAEBE9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47625"/>
              <a:ext cx="1859356" cy="8604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12"/>
                </a:lnSpc>
              </a:pPr>
            </a:p>
          </p:txBody>
        </p:sp>
      </p:grpSp>
      <p:sp>
        <p:nvSpPr>
          <p:cNvPr name="TextBox 12" id="12"/>
          <p:cNvSpPr txBox="true"/>
          <p:nvPr/>
        </p:nvSpPr>
        <p:spPr>
          <a:xfrm rot="0">
            <a:off x="792370" y="3866966"/>
            <a:ext cx="16425514" cy="3257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752"/>
              </a:lnSpc>
            </a:pPr>
            <a:r>
              <a:rPr lang="en-US" sz="11186">
                <a:solidFill>
                  <a:srgbClr val="5F6F52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THANK YOU</a:t>
            </a:r>
          </a:p>
          <a:p>
            <a:pPr algn="ctr" marL="0" indent="0" lvl="0">
              <a:lnSpc>
                <a:spcPts val="12752"/>
              </a:lnSpc>
            </a:pPr>
            <a:r>
              <a:rPr lang="en-US" sz="11186">
                <a:solidFill>
                  <a:srgbClr val="5F6F52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FOR ATTENTION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DAG3uuRLx2I</dc:identifier>
  <dcterms:modified xsi:type="dcterms:W3CDTF">2011-08-01T06:04:30Z</dcterms:modified>
  <cp:revision>1</cp:revision>
  <dc:title>نسخة من White and Green Modern Research Proposal Presentation</dc:title>
</cp:coreProperties>
</file>